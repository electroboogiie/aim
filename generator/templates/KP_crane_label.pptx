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60" r:id="rId11"/>
    <p:sldId id="261" r:id="rId12"/>
    <p:sldId id="262" r:id="rId13"/>
    <p:sldId id="263" r:id="rId14"/>
    <p:sldId id="264" r:id="rId15"/>
    <p:sldId id="265" r:id="rId16"/>
  </p:sldIdLst>
  <p:sldSz cx="7556500" cy="10693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5" Type="http://schemas.openxmlformats.org/officeDocument/2006/relationships/image" Target="../media/image4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4" Type="http://schemas.openxmlformats.org/officeDocument/2006/relationships/image" Target="../media/image13.png"/><Relationship Id="rId6" Type="http://schemas.openxmlformats.org/officeDocument/2006/relationships/image" Target="../media/image20.png"/><Relationship Id="rId7" Type="http://schemas.openxmlformats.org/officeDocument/2006/relationships/image" Target="../media/image39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21.jpg"/><Relationship Id="rId4" Type="http://schemas.openxmlformats.org/officeDocument/2006/relationships/image" Target="../media/image13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2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4" Type="http://schemas.openxmlformats.org/officeDocument/2006/relationships/image" Target="../media/image13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40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9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7" Type="http://schemas.openxmlformats.org/officeDocument/2006/relationships/image" Target="../media/image4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.png"/><Relationship Id="rId8" Type="http://schemas.openxmlformats.org/officeDocument/2006/relationships/image" Target="../media/image4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3.png"/><Relationship Id="rId5" Type="http://schemas.openxmlformats.org/officeDocument/2006/relationships/image" Target="../media/image4.png"/><Relationship Id="rId6" Type="http://schemas.openxmlformats.org/officeDocument/2006/relationships/image" Target="../media/image38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43.png"/><Relationship Id="rId12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cover_block"/>
          <p:cNvSpPr/>
          <p:nvPr/>
        </p:nvSpPr>
        <p:spPr>
          <a:xfrm>
            <a:off x="0" y="3977640"/>
            <a:ext cx="7556500" cy="6715760"/>
          </a:xfrm>
          <a:custGeom>
            <a:avLst/>
            <a:gdLst/>
            <a:ahLst/>
            <a:cxnLst/>
            <a:rect l="l" t="t" r="r" b="b"/>
            <a:pathLst>
              <a:path w="7556500" h="6715760">
                <a:moveTo>
                  <a:pt x="0" y="914400"/>
                </a:moveTo>
                <a:lnTo>
                  <a:pt x="7556500" y="0"/>
                </a:lnTo>
                <a:lnTo>
                  <a:pt x="7556500" y="6715760"/>
                </a:lnTo>
                <a:lnTo>
                  <a:pt x="0" y="6715760"/>
                </a:lnTo>
                <a:close/>
              </a:path>
            </a:pathLst>
          </a:cu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hz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7620" y="4370832"/>
            <a:ext cx="2011680" cy="118872"/>
          </a:xfrm>
          <a:prstGeom prst="rect">
            <a:avLst/>
          </a:prstGeom>
        </p:spPr>
      </p:pic>
      <p:pic>
        <p:nvPicPr>
          <p:cNvPr id="5" name="hdr_cover_10t" descr="cover_10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86200" y="5486400"/>
            <a:ext cx="3227832" cy="138533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301752"/>
            <a:ext cx="3657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250">
                <a:solidFill>
                  <a:srgbClr val="0D0E10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5488"/>
            <a:ext cx="3657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8B8C88"/>
                </a:solidFill>
                <a:latin typeface="Courier New"/>
              </a:rPr>
              <a:t>ВЕРСІЯ 29.09.2026  ·  САРНИ, UA</a:t>
            </a:r>
          </a:p>
        </p:txBody>
      </p:sp>
      <p:pic>
        <p:nvPicPr>
          <p:cNvPr id="8" name="Picture 7" descr="logo_1A1A1A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0620" y="274320"/>
            <a:ext cx="868680" cy="342900"/>
          </a:xfrm>
          <a:prstGeom prst="rect">
            <a:avLst/>
          </a:prstGeom>
        </p:spPr>
      </p:pic>
      <p:cxnSp>
        <p:nvCxnSpPr>
          <p:cNvPr id="9" name="Connector 8"/>
          <p:cNvCxnSpPr/>
          <p:nvPr/>
        </p:nvCxnSpPr>
        <p:spPr>
          <a:xfrm>
            <a:off x="457200" y="749808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pic>
        <p:nvPicPr>
          <p:cNvPr id="10" name="hdr_cover_title" descr="cover_titl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4048" y="896112"/>
            <a:ext cx="6711696" cy="125844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7200" y="254203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spc="400">
                <a:solidFill>
                  <a:srgbClr val="0D0E10"/>
                </a:solidFill>
                <a:latin typeface="Arial"/>
              </a:rPr>
              <a:t>КРАН-МАНІПУЛЯТОР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50" b="1" spc="150">
                <a:solidFill>
                  <a:srgbClr val="5E605F"/>
                </a:solidFill>
                <a:latin typeface="Courier New"/>
              </a:rPr>
              <a:t>У КОМПЛЕКТІ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81328" y="2935224"/>
            <a:ext cx="4343400" cy="329184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81328" y="2935224"/>
            <a:ext cx="434340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50" b="1" spc="100">
                <a:solidFill>
                  <a:srgbClr val="FFFFFF"/>
                </a:solidFill>
                <a:latin typeface="Arial"/>
              </a:rPr>
              <a:t>З РОТАТОРОМ 4 т І ГРЕЙФЕРОМ 0,24 м²</a:t>
            </a:r>
          </a:p>
        </p:txBody>
      </p:sp>
      <p:pic>
        <p:nvPicPr>
          <p:cNvPr id="15" name="hero_cutout" descr="cutout_npl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91440" y="6153358"/>
            <a:ext cx="5257800" cy="2121962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5257800" y="48006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4910328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60</a:t>
            </a:r>
            <a:r>
              <a:rPr sz="924" b="1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522325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ПІДЙОМНИЙ МОМЕНТ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57800" y="5586984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57800" y="5696712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7,2</a:t>
            </a:r>
            <a:r>
              <a:rPr sz="924" b="1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600964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ВИЛІТ КРАНА BMF 720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57800" y="6373368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57800" y="6483096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1100</a:t>
            </a:r>
            <a:r>
              <a:rPr sz="924" b="1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57800" y="679602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ВАНТАЖ НА ВИЛЬОТІ 4 м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57800" y="7159752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57800" y="7269480"/>
            <a:ext cx="19202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370</a:t>
            </a:r>
            <a:r>
              <a:rPr sz="924" b="1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57800" y="7582408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ПОВОРОТ СТРІЛИ</a:t>
            </a:r>
          </a:p>
        </p:txBody>
      </p:sp>
      <p:pic>
        <p:nvPicPr>
          <p:cNvPr id="28" name="hdr_cover_slogan" descr="cover_slogan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7200" y="8503920"/>
            <a:ext cx="4026926" cy="591312"/>
          </a:xfrm>
          <a:prstGeom prst="rect">
            <a:avLst/>
          </a:prstGeom>
        </p:spPr>
      </p:pic>
      <p:cxnSp>
        <p:nvCxnSpPr>
          <p:cNvPr id="29" name="Connector 28"/>
          <p:cNvCxnSpPr/>
          <p:nvPr/>
        </p:nvCxnSpPr>
        <p:spPr>
          <a:xfrm>
            <a:off x="457200" y="9253728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57200" y="937260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ТЕЛЕФОН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952804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(+380) 673630629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(+380) 681775997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74520" y="9372600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САЙТ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874520" y="9528048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https://www.bmf.ee</a:t>
            </a:r>
          </a:p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https://bmf.rv.ua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9875520"/>
            <a:ext cx="14630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1003096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debeliy78@ukr.net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520" y="9875520"/>
            <a:ext cx="3108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" b="1" spc="120">
                <a:solidFill>
                  <a:srgbClr val="F2530A"/>
                </a:solidFill>
                <a:latin typeface="Courier New"/>
              </a:rPr>
              <a:t>АДРЕСА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874520" y="10030968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Arial"/>
              </a:rPr>
              <a:t>вул. Заводська 5, м. Сарни, Рівненська обл., Україна, 34500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56048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9" name="qr_сайт" descr="image5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1768" y="9390888"/>
            <a:ext cx="512064" cy="51206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4956048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САЙТ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78424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2" name="qr_tiktok" descr="image6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9390888"/>
            <a:ext cx="512064" cy="51206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5678424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TIKTOK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00800" y="9345168"/>
            <a:ext cx="603504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5" name="qr_instagram" descr="image7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46520" y="9390888"/>
            <a:ext cx="512064" cy="512064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6400800" y="10003536"/>
            <a:ext cx="603504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INSTAGRAM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10473944"/>
            <a:ext cx="66421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20">
                <a:solidFill>
                  <a:srgbClr val="8B8C88"/>
                </a:solidFill>
                <a:latin typeface="Courier New"/>
              </a:rPr>
              <a:t>ВИРОБНИК: ФОП ДЕБЕЛИЙ ВОЛОДИМИР МИКОЛАЙОВИЧ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2_her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755650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02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88493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85292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01 // СКЛАД КОМПЛЕКТУ · BMF 720</a:t>
            </a:r>
          </a:p>
        </p:txBody>
      </p:sp>
      <p:pic>
        <p:nvPicPr>
          <p:cNvPr id="26" name="hdr_p2_hdr" descr="p2_h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27248"/>
            <a:ext cx="3630821" cy="987552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457200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2</a:t>
            </a:r>
            <a:r>
              <a:rPr sz="924" b="1">
                <a:solidFill>
                  <a:srgbClr val="F2530A"/>
                </a:solidFill>
                <a:latin typeface="Arial"/>
              </a:rPr>
              <a:t>  поз.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У КОМПЛЕКТІ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17725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17725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4</a:t>
            </a:r>
            <a:r>
              <a:rPr sz="924" b="1">
                <a:solidFill>
                  <a:srgbClr val="F2530A"/>
                </a:solidFill>
                <a:latin typeface="Arial"/>
              </a:rPr>
              <a:t>  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17725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РОТАТОР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78250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78250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0,24</a:t>
            </a:r>
            <a:r>
              <a:rPr sz="924" b="1">
                <a:solidFill>
                  <a:srgbClr val="F2530A"/>
                </a:solidFill>
                <a:latin typeface="Arial"/>
              </a:rPr>
              <a:t>  м²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78250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ГРЕЙФЕР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38775" y="457200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38775" y="468172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"/>
              </a:rPr>
              <a:t>675</a:t>
            </a:r>
            <a:r>
              <a:rPr sz="924" b="1">
                <a:solidFill>
                  <a:srgbClr val="F2530A"/>
                </a:solidFill>
                <a:latin typeface="Arial"/>
              </a:rPr>
              <a:t>  кг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8775" y="499465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B9BBBE"/>
                </a:solidFill>
                <a:latin typeface="Courier New"/>
              </a:rPr>
              <a:t>ВАГА КРАНА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57200" y="5413248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40" name="fld_npl_lead"/>
          <p:cNvSpPr txBox="1"/>
          <p:nvPr/>
        </p:nvSpPr>
        <p:spPr>
          <a:xfrm>
            <a:off x="457200" y="5577840"/>
            <a:ext cx="66421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FFFFFF"/>
                </a:solidFill>
                <a:latin typeface="Arial"/>
              </a:rPr>
              <a:t>BMF 720 у комплекті: Кран-маніпулятор BMF 720, платформа з аутригерами. Ротатор 4 т і грейфер 0,24 м² уже входять у ціну крана.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318389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СКЛАД КОМПЛЕКТУ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6729984"/>
            <a:ext cx="318389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01  Кран-маніпулятор BMF 720 — у комплекті з ротатором 4 т і захватом 0,24 м²</a:t>
            </a:r>
          </a:p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02  Платформа з аутригерами — опорні лапи, РВТ, з’єднувальні болти, фланці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15410" y="6510528"/>
            <a:ext cx="318389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ДОДАТКОВО ЗА ЗАПИТОМ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15410" y="6729984"/>
            <a:ext cx="318389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Регулюючий клапан — ціна за запитом</a:t>
            </a:r>
          </a:p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Грейфери Hardox — ціна за запитом</a:t>
            </a:r>
          </a:p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Ротатори — ціна за запитом</a:t>
            </a:r>
          </a:p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Опора F/D-типу («метелик») — ціна за запитом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915410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915410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650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20082" y="8339328"/>
            <a:ext cx="749808" cy="237744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20082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Courier New"/>
              </a:rPr>
              <a:t>BMF 720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524754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24754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750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329426" y="8339328"/>
            <a:ext cx="749808" cy="237744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9426" y="8339328"/>
            <a:ext cx="749808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00" b="1">
                <a:solidFill>
                  <a:srgbClr val="B9BBBE"/>
                </a:solidFill>
                <a:latin typeface="Courier New"/>
              </a:rPr>
              <a:t>BMF 905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8796528"/>
            <a:ext cx="7556500" cy="109728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8897112"/>
            <a:ext cx="18288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0D0E10"/>
                </a:solidFill>
                <a:latin typeface="Courier New"/>
              </a:rPr>
              <a:t>ЧОМУ BMF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9079992"/>
            <a:ext cx="66421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1">
                <a:solidFill>
                  <a:srgbClr val="0D0E10"/>
                </a:solidFill>
                <a:latin typeface="Arial"/>
              </a:rPr>
              <a:t>Ми — офіційні дистриб’ютори BMF в Україні. Підберемо кран, ротатор, грейфер і основу під ваш причіп або трактор, а всі умови узгодимо до підписання договору.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5_her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56500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03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03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FFFFFF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749808"/>
            <a:ext cx="1005840" cy="39685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457200" y="2939796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" y="2907792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02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КРАН-МАНІПУЛЯТОР BMF 720</a:t>
            </a:r>
          </a:p>
        </p:txBody>
      </p:sp>
      <p:pic>
        <p:nvPicPr>
          <p:cNvPr id="27" name="hdr_p5_hdr" descr="p5_hd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" y="3182112"/>
            <a:ext cx="2773680" cy="89611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57200" y="4773168"/>
            <a:ext cx="66421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FFFFFF"/>
                </a:solidFill>
                <a:latin typeface="Arial"/>
              </a:rPr>
              <a:t>Максимальний радіус дії цього дуже популярного лісокрана BMF720 становить 7,2 метра, він оснащений триточковим навішуванням, ширококутним шарніром і телескопом, що робить його придатним для напів- та професійного лісового господарства. Те, що робить крани BMF такими популярними, полягає в їх цінних якостях: стильному зовнішньому вигляді, міцному дизайні та функціональності, і BMF720 не є винятком.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870448"/>
            <a:ext cx="66421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60" b="0">
                <a:solidFill>
                  <a:srgbClr val="B9BBBE"/>
                </a:solidFill>
                <a:latin typeface="Arial"/>
              </a:rPr>
              <a:t>Усі навантажувачі BMF мають міцні, ретельно проаналізовані та випробувані поворотні будови та колони (вежі), поверхні з порошковим покриттям для більшої довговічності, легкодоступні точки змащення та надійно захищені гідравлічні лінії та компоненти. Стріли підйомників BMF виготовлені з особливо міцної сталі SSAB Strenx і мають знак якості My Inner Strenx®. Універсальність цього крана можна розширити за допомогою аксесуарів BMF.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784848"/>
            <a:ext cx="1984248" cy="24688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784848"/>
            <a:ext cx="1984248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0D0E10"/>
                </a:solidFill>
                <a:latin typeface="Courier New"/>
              </a:rPr>
              <a:t>SSAB STRENX · MY INNER STRENX®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514600" y="6784848"/>
            <a:ext cx="1486814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14600" y="6784848"/>
            <a:ext cx="1486814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ТРИТОЧКОВЕ НАВІШУВАННЯ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074566" y="6784848"/>
            <a:ext cx="802843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74566" y="6784848"/>
            <a:ext cx="802843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ШИРОКИЙ КУТ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50562" y="6784848"/>
            <a:ext cx="616306" cy="246888"/>
          </a:xfrm>
          <a:prstGeom prst="rect">
            <a:avLst/>
          </a:prstGeom>
          <a:noFill/>
          <a:ln w="9525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950562" y="6784848"/>
            <a:ext cx="61630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1">
                <a:solidFill>
                  <a:srgbClr val="B9BBBE"/>
                </a:solidFill>
                <a:latin typeface="Courier New"/>
              </a:rPr>
              <a:t>ТЕЛЕСКОП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7269480"/>
            <a:ext cx="6642100" cy="237744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Connector 38"/>
          <p:cNvCxnSpPr/>
          <p:nvPr/>
        </p:nvCxnSpPr>
        <p:spPr>
          <a:xfrm>
            <a:off x="457200" y="7269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0" name="Connector 39"/>
          <p:cNvCxnSpPr/>
          <p:nvPr/>
        </p:nvCxnSpPr>
        <p:spPr>
          <a:xfrm>
            <a:off x="457200" y="726948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1" name="Connector 40"/>
          <p:cNvCxnSpPr/>
          <p:nvPr/>
        </p:nvCxnSpPr>
        <p:spPr>
          <a:xfrm flipH="1">
            <a:off x="6898132" y="726948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7099300" y="7269480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457200" y="964692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4" name="Connector 43"/>
          <p:cNvCxnSpPr/>
          <p:nvPr/>
        </p:nvCxnSpPr>
        <p:spPr>
          <a:xfrm flipV="1">
            <a:off x="457200" y="944575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5" name="Connector 44"/>
          <p:cNvCxnSpPr/>
          <p:nvPr/>
        </p:nvCxnSpPr>
        <p:spPr>
          <a:xfrm flipH="1">
            <a:off x="6898132" y="9646920"/>
            <a:ext cx="201168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46" name="Connector 45"/>
          <p:cNvCxnSpPr/>
          <p:nvPr/>
        </p:nvCxnSpPr>
        <p:spPr>
          <a:xfrm flipV="1">
            <a:off x="7099300" y="9445752"/>
            <a:ext cx="0" cy="201168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47" name="TextBox 46"/>
          <p:cNvSpPr txBox="1"/>
          <p:nvPr/>
        </p:nvSpPr>
        <p:spPr>
          <a:xfrm>
            <a:off x="621792" y="7379208"/>
            <a:ext cx="36576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50">
                <a:solidFill>
                  <a:srgbClr val="B9BBBE"/>
                </a:solidFill>
                <a:latin typeface="Courier New"/>
              </a:rPr>
              <a:t>СХЕМА ВИЛЬОТУ  ·  мм</a:t>
            </a:r>
          </a:p>
        </p:txBody>
      </p:sp>
      <p:pic>
        <p:nvPicPr>
          <p:cNvPr id="48" name="dwg_crane" descr="dwg_cr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7712762"/>
            <a:ext cx="5120640" cy="1719477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5989320" y="772668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3000" b="1">
                <a:solidFill>
                  <a:srgbClr val="F2530A"/>
                </a:solidFill>
                <a:latin typeface="Arial"/>
              </a:rPr>
              <a:t>7,2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822960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B9BBBE"/>
                </a:solidFill>
                <a:latin typeface="Courier New"/>
              </a:rPr>
              <a:t>М · МАКС. ВИЛІТ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89320" y="854964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2000" b="1">
                <a:solidFill>
                  <a:srgbClr val="FFFFFF"/>
                </a:solidFill>
                <a:latin typeface="Arial"/>
              </a:rPr>
              <a:t>370°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23560" y="8915400"/>
            <a:ext cx="1371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B9BBBE"/>
                </a:solidFill>
                <a:latin typeface="Courier New"/>
              </a:rPr>
              <a:t>ПОВОРОТ СТРІЛИ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5E605F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5E605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04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04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03 // </a:t>
            </a:r>
            <a:r>
              <a:rPr sz="750" b="1" spc="150">
                <a:solidFill>
                  <a:srgbClr val="5E605F"/>
                </a:solidFill>
                <a:latin typeface="Courier New"/>
              </a:rPr>
              <a:t>ТЕХНІЧНІ ХАРАКТЕРИСТИКИ · BMF 720</a:t>
            </a:r>
          </a:p>
        </p:txBody>
      </p:sp>
      <p:pic>
        <p:nvPicPr>
          <p:cNvPr id="25" name="hdr_p6_hdr" descr="p6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4443984" cy="777240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457200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7,2</a:t>
            </a:r>
            <a:r>
              <a:rPr sz="924" b="1">
                <a:solidFill>
                  <a:srgbClr val="F2530A"/>
                </a:solidFill>
                <a:latin typeface="Arial"/>
              </a:rPr>
              <a:t>  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МАКСИМАЛЬНИЙ ВИЛІТ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17725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17725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60</a:t>
            </a:r>
            <a:r>
              <a:rPr sz="924" b="1">
                <a:solidFill>
                  <a:srgbClr val="F2530A"/>
                </a:solidFill>
                <a:latin typeface="Arial"/>
              </a:rPr>
              <a:t>  кНм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17725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ПІДЙОМНИЙ МОМЕНТ, БРУТТО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778250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78250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370</a:t>
            </a:r>
            <a:r>
              <a:rPr sz="924" b="1">
                <a:solidFill>
                  <a:srgbClr val="F2530A"/>
                </a:solidFill>
                <a:latin typeface="Arial"/>
              </a:rPr>
              <a:t>  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78250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ПОВОРОТ СТРІЛИ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38775" y="2103120"/>
            <a:ext cx="256032" cy="4114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38775" y="2212848"/>
            <a:ext cx="1660525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D0E10"/>
                </a:solidFill>
                <a:latin typeface="Arial"/>
              </a:rPr>
              <a:t>200</a:t>
            </a:r>
            <a:r>
              <a:rPr sz="924" b="1">
                <a:solidFill>
                  <a:srgbClr val="F2530A"/>
                </a:solidFill>
                <a:latin typeface="Arial"/>
              </a:rPr>
              <a:t>  бар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38775" y="2525776"/>
            <a:ext cx="156908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80">
                <a:solidFill>
                  <a:srgbClr val="5E605F"/>
                </a:solidFill>
                <a:latin typeface="Courier New"/>
              </a:rPr>
              <a:t>РОБОЧИЙ ТИСК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3017520"/>
            <a:ext cx="664210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792" y="3127248"/>
            <a:ext cx="54864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00">
                <a:solidFill>
                  <a:srgbClr val="5E605F"/>
                </a:solidFill>
                <a:latin typeface="Courier New"/>
              </a:rPr>
              <a:t>ВАНТАЖОПІДЙОМНІСТЬ ЗА ВИЛЬОТОМ, кг  ·  без грейфера і ротатора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22960" y="4727448"/>
            <a:ext cx="5956300" cy="0"/>
          </a:xfrm>
          <a:prstGeom prst="line">
            <a:avLst/>
          </a:prstGeom>
          <a:ln w="12700">
            <a:solidFill>
              <a:srgbClr val="0D0E10"/>
            </a:solidFill>
          </a:ln>
        </p:spPr>
      </p:cxnSp>
      <p:cxnSp>
        <p:nvCxnSpPr>
          <p:cNvPr id="41" name="Connector 40"/>
          <p:cNvCxnSpPr/>
          <p:nvPr/>
        </p:nvCxnSpPr>
        <p:spPr>
          <a:xfrm>
            <a:off x="822960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2" name="TextBox 41"/>
          <p:cNvSpPr txBox="1"/>
          <p:nvPr/>
        </p:nvSpPr>
        <p:spPr>
          <a:xfrm>
            <a:off x="640080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0 м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1650224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1467344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1 м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2477488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2294608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2 м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3304752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48" name="TextBox 47"/>
          <p:cNvSpPr txBox="1"/>
          <p:nvPr/>
        </p:nvSpPr>
        <p:spPr>
          <a:xfrm>
            <a:off x="3121872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3 м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4132016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0" name="TextBox 49"/>
          <p:cNvSpPr txBox="1"/>
          <p:nvPr/>
        </p:nvSpPr>
        <p:spPr>
          <a:xfrm>
            <a:off x="3949136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4 м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4959279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4776399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5 м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786543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5603663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6 м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613807" y="4727448"/>
            <a:ext cx="0" cy="54864"/>
          </a:xfrm>
          <a:prstGeom prst="line">
            <a:avLst/>
          </a:prstGeom>
          <a:ln w="9525">
            <a:solidFill>
              <a:srgbClr val="0D0E10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6430927" y="4800600"/>
            <a:ext cx="3657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>
                <a:solidFill>
                  <a:srgbClr val="5E605F"/>
                </a:solidFill>
                <a:latin typeface="Courier New"/>
              </a:rPr>
              <a:t>7 м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75984" y="3584448"/>
            <a:ext cx="512064" cy="114300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00496" y="32552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D0E10"/>
                </a:solidFill>
                <a:latin typeface="Arial"/>
              </a:rPr>
              <a:t>1100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22960" y="3584448"/>
            <a:ext cx="3053024" cy="0"/>
          </a:xfrm>
          <a:prstGeom prst="line">
            <a:avLst/>
          </a:prstGeom>
          <a:ln w="6350">
            <a:solidFill>
              <a:srgbClr val="8B8C88"/>
            </a:solidFill>
            <a:prstDash val="lgDash"/>
          </a:ln>
        </p:spPr>
      </p:cxnSp>
      <p:sp>
        <p:nvSpPr>
          <p:cNvPr id="60" name="Rectangle 59"/>
          <p:cNvSpPr/>
          <p:nvPr/>
        </p:nvSpPr>
        <p:spPr>
          <a:xfrm>
            <a:off x="6523228" y="4124775"/>
            <a:ext cx="512064" cy="602673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047740" y="3795591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0D0E10"/>
                </a:solidFill>
                <a:latin typeface="Arial"/>
              </a:rPr>
              <a:t>580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822960" y="4124775"/>
            <a:ext cx="5700268" cy="0"/>
          </a:xfrm>
          <a:prstGeom prst="line">
            <a:avLst/>
          </a:prstGeom>
          <a:ln w="6350">
            <a:solidFill>
              <a:srgbClr val="8B8C88"/>
            </a:solidFill>
            <a:prstDash val="lgDash"/>
          </a:ln>
        </p:spPr>
      </p:cxnSp>
      <p:sp>
        <p:nvSpPr>
          <p:cNvPr id="63" name="Rectangle 62"/>
          <p:cNvSpPr/>
          <p:nvPr/>
        </p:nvSpPr>
        <p:spPr>
          <a:xfrm>
            <a:off x="457200" y="5230368"/>
            <a:ext cx="6642100" cy="457200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5230368"/>
            <a:ext cx="54864" cy="45720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" y="5230368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00" b="1" spc="120">
                <a:solidFill>
                  <a:srgbClr val="F2530A"/>
                </a:solidFill>
                <a:latin typeface="Courier New"/>
              </a:rPr>
              <a:t>У КОМПЛЕКТІ ЗАВЖДИ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331720" y="5230368"/>
            <a:ext cx="47218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</a:rPr>
              <a:t>РОТАТОР 4 т</a:t>
            </a:r>
            <a:r>
              <a:rPr sz="1200" b="1">
                <a:solidFill>
                  <a:srgbClr val="F2530A"/>
                </a:solidFill>
                <a:latin typeface="Arial"/>
              </a:rPr>
              <a:t>   +   </a:t>
            </a:r>
            <a:r>
              <a:rPr sz="1200" b="1">
                <a:solidFill>
                  <a:srgbClr val="FFFFFF"/>
                </a:solidFill>
                <a:latin typeface="Arial"/>
              </a:rPr>
              <a:t>ГРЕЙФЕР 0,24 м²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57200" y="5870448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66928" y="5870448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Максимальний виліт, м</a:t>
            </a:r>
          </a:p>
        </p:txBody>
      </p:sp>
      <p:sp>
        <p:nvSpPr>
          <p:cNvPr id="69" name="fld_bmf_0"/>
          <p:cNvSpPr txBox="1"/>
          <p:nvPr/>
        </p:nvSpPr>
        <p:spPr>
          <a:xfrm>
            <a:off x="5486400" y="5870448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7.2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6928" y="6119165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Підйомний момент, кНм, брутто</a:t>
            </a:r>
          </a:p>
        </p:txBody>
      </p:sp>
      <p:sp>
        <p:nvSpPr>
          <p:cNvPr id="71" name="fld_bmf_1"/>
          <p:cNvSpPr txBox="1"/>
          <p:nvPr/>
        </p:nvSpPr>
        <p:spPr>
          <a:xfrm>
            <a:off x="5486400" y="6119165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60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57200" y="6367882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66928" y="636788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Вантажопідйомність на 4 м без грейфера і ротатора, кг</a:t>
            </a:r>
          </a:p>
        </p:txBody>
      </p:sp>
      <p:sp>
        <p:nvSpPr>
          <p:cNvPr id="74" name="fld_bmf_2"/>
          <p:cNvSpPr txBox="1"/>
          <p:nvPr/>
        </p:nvSpPr>
        <p:spPr>
          <a:xfrm>
            <a:off x="5486400" y="636788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1100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66928" y="6616598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Підйомна сила повного вильоту без грейфера і ротатора, кг</a:t>
            </a:r>
          </a:p>
        </p:txBody>
      </p:sp>
      <p:sp>
        <p:nvSpPr>
          <p:cNvPr id="76" name="fld_bmf_3"/>
          <p:cNvSpPr txBox="1"/>
          <p:nvPr/>
        </p:nvSpPr>
        <p:spPr>
          <a:xfrm>
            <a:off x="5486400" y="6616598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580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57200" y="6865315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6865315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Захват, м2</a:t>
            </a:r>
          </a:p>
        </p:txBody>
      </p:sp>
      <p:sp>
        <p:nvSpPr>
          <p:cNvPr id="79" name="fld_bmf_4"/>
          <p:cNvSpPr txBox="1"/>
          <p:nvPr/>
        </p:nvSpPr>
        <p:spPr>
          <a:xfrm>
            <a:off x="5486400" y="6865315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0.24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66928" y="711403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Ротатор</a:t>
            </a:r>
          </a:p>
        </p:txBody>
      </p:sp>
      <p:sp>
        <p:nvSpPr>
          <p:cNvPr id="81" name="fld_bmf_5"/>
          <p:cNvSpPr txBox="1"/>
          <p:nvPr/>
        </p:nvSpPr>
        <p:spPr>
          <a:xfrm>
            <a:off x="5486400" y="711403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4т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57200" y="7362749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66928" y="7362749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Гідравлічний клапан, стандарт</a:t>
            </a:r>
          </a:p>
        </p:txBody>
      </p:sp>
      <p:sp>
        <p:nvSpPr>
          <p:cNvPr id="84" name="fld_bmf_6"/>
          <p:cNvSpPr txBox="1"/>
          <p:nvPr/>
        </p:nvSpPr>
        <p:spPr>
          <a:xfrm>
            <a:off x="5486400" y="7362749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6/8XY (55l)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66928" y="761146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Поворотний момент, кНм</a:t>
            </a:r>
          </a:p>
        </p:txBody>
      </p:sp>
      <p:sp>
        <p:nvSpPr>
          <p:cNvPr id="86" name="fld_bmf_7"/>
          <p:cNvSpPr txBox="1"/>
          <p:nvPr/>
        </p:nvSpPr>
        <p:spPr>
          <a:xfrm>
            <a:off x="5486400" y="761146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14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57200" y="7860182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66928" y="7860182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Циліндри поворотні, шт</a:t>
            </a:r>
          </a:p>
        </p:txBody>
      </p:sp>
      <p:sp>
        <p:nvSpPr>
          <p:cNvPr id="89" name="fld_bmf_8"/>
          <p:cNvSpPr txBox="1"/>
          <p:nvPr/>
        </p:nvSpPr>
        <p:spPr>
          <a:xfrm>
            <a:off x="5486400" y="7860182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4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66928" y="8108899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Поворот стріли, °</a:t>
            </a:r>
          </a:p>
        </p:txBody>
      </p:sp>
      <p:sp>
        <p:nvSpPr>
          <p:cNvPr id="91" name="fld_bmf_9"/>
          <p:cNvSpPr txBox="1"/>
          <p:nvPr/>
        </p:nvSpPr>
        <p:spPr>
          <a:xfrm>
            <a:off x="5486400" y="8108899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370</a:t>
            </a:r>
          </a:p>
        </p:txBody>
      </p:sp>
      <p:sp>
        <p:nvSpPr>
          <p:cNvPr id="92" name="Rectangle 91"/>
          <p:cNvSpPr/>
          <p:nvPr/>
        </p:nvSpPr>
        <p:spPr>
          <a:xfrm>
            <a:off x="457200" y="8357616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6928" y="835761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Робочий тиск, бар</a:t>
            </a:r>
          </a:p>
        </p:txBody>
      </p:sp>
      <p:sp>
        <p:nvSpPr>
          <p:cNvPr id="94" name="fld_bmf_10"/>
          <p:cNvSpPr txBox="1"/>
          <p:nvPr/>
        </p:nvSpPr>
        <p:spPr>
          <a:xfrm>
            <a:off x="5486400" y="835761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200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66928" y="8606333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Продуктивність гідронасоса, л/хв</a:t>
            </a:r>
          </a:p>
        </p:txBody>
      </p:sp>
      <p:sp>
        <p:nvSpPr>
          <p:cNvPr id="96" name="fld_bmf_11"/>
          <p:cNvSpPr txBox="1"/>
          <p:nvPr/>
        </p:nvSpPr>
        <p:spPr>
          <a:xfrm>
            <a:off x="5486400" y="8606333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30-60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457200" y="8855050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66928" y="8855050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Широкий кут</a:t>
            </a:r>
          </a:p>
        </p:txBody>
      </p:sp>
      <p:sp>
        <p:nvSpPr>
          <p:cNvPr id="99" name="fld_bmf_12"/>
          <p:cNvSpPr txBox="1"/>
          <p:nvPr/>
        </p:nvSpPr>
        <p:spPr>
          <a:xfrm>
            <a:off x="5486400" y="8855050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+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66928" y="9103766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Телескоп</a:t>
            </a:r>
          </a:p>
        </p:txBody>
      </p:sp>
      <p:sp>
        <p:nvSpPr>
          <p:cNvPr id="101" name="fld_bmf_13"/>
          <p:cNvSpPr txBox="1"/>
          <p:nvPr/>
        </p:nvSpPr>
        <p:spPr>
          <a:xfrm>
            <a:off x="5486400" y="9103766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+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457200" y="9352483"/>
            <a:ext cx="6642100" cy="248717"/>
          </a:xfrm>
          <a:prstGeom prst="rect">
            <a:avLst/>
          </a:prstGeom>
          <a:solidFill>
            <a:srgbClr val="E1DE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" y="9352483"/>
            <a:ext cx="5120640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30" b="0">
                <a:solidFill>
                  <a:srgbClr val="0D0E10"/>
                </a:solidFill>
                <a:latin typeface="Arial"/>
              </a:rPr>
              <a:t>Загальна вага без ноги, грейфера, ротатора, кг</a:t>
            </a:r>
          </a:p>
        </p:txBody>
      </p:sp>
      <p:sp>
        <p:nvSpPr>
          <p:cNvPr id="104" name="fld_bmf_14"/>
          <p:cNvSpPr txBox="1"/>
          <p:nvPr/>
        </p:nvSpPr>
        <p:spPr>
          <a:xfrm>
            <a:off x="5486400" y="9352483"/>
            <a:ext cx="1503172" cy="2487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1">
                <a:solidFill>
                  <a:srgbClr val="0D0E10"/>
                </a:solidFill>
                <a:latin typeface="Arial"/>
              </a:rPr>
              <a:t>710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pic>
        <p:nvPicPr>
          <p:cNvPr id="3" name="Picture 2" descr="p7_hero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755650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FFFFF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FFFFF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05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05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FFFFFF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2363724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331720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04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ВАРТІСТЬ КОМПЛЕКТУ</a:t>
            </a:r>
          </a:p>
        </p:txBody>
      </p:sp>
      <p:pic>
        <p:nvPicPr>
          <p:cNvPr id="26" name="hdr_p7_hdr" descr="p7_hd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" y="2606040"/>
            <a:ext cx="4980432" cy="819912"/>
          </a:xfrm>
          <a:prstGeom prst="rect">
            <a:avLst/>
          </a:prstGeom>
        </p:spPr>
      </p:pic>
      <p:pic>
        <p:nvPicPr>
          <p:cNvPr id="27" name="receipt" descr="receip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023360"/>
            <a:ext cx="6459220" cy="576072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5840" y="4434840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0D0E10"/>
                </a:solidFill>
                <a:latin typeface="Courier New"/>
              </a:rPr>
              <a:t>ЗАГАЛЬНА ВАРТІСТЬ КОМПЛЕКТУ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4434840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spc="100">
                <a:solidFill>
                  <a:srgbClr val="5E605F"/>
                </a:solidFill>
                <a:latin typeface="Courier New"/>
              </a:rPr>
              <a:t>КП · 29.09.2026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005840" y="4727448"/>
            <a:ext cx="5544820" cy="0"/>
          </a:xfrm>
          <a:prstGeom prst="line">
            <a:avLst/>
          </a:prstGeom>
          <a:ln w="9525">
            <a:solidFill>
              <a:srgbClr val="0D0E10"/>
            </a:solidFill>
            <a:prstDash val="lgDash"/>
          </a:ln>
        </p:spPr>
      </p:cxnSp>
      <p:sp>
        <p:nvSpPr>
          <p:cNvPr id="31" name="TextBox 30"/>
          <p:cNvSpPr txBox="1"/>
          <p:nvPr/>
        </p:nvSpPr>
        <p:spPr>
          <a:xfrm>
            <a:off x="1005840" y="489204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487375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Напівпричіп-лісовоз НПЛ-10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510235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10 т · 4 коники · V-аутригери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07660" y="489204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5840" y="54406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17320" y="542239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Гідравлічний кран-маніпулятор BMF 720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565099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з ротатором 4 т і грейфером 0,24 м²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07660" y="544068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5840" y="598932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597103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Автономна гідравлічна система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17320" y="619963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у складі напівпричепа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07660" y="598932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05840" y="653796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F2530A"/>
                </a:solidFill>
                <a:latin typeface="Courier New"/>
              </a:rPr>
              <a:t>04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6519672"/>
            <a:ext cx="39903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0D0E10"/>
                </a:solidFill>
                <a:latin typeface="Arial"/>
              </a:rPr>
              <a:t>Місце оператора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17320" y="6748272"/>
            <a:ext cx="39903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0">
                <a:solidFill>
                  <a:srgbClr val="5E605F"/>
                </a:solidFill>
                <a:latin typeface="Arial"/>
              </a:rPr>
              <a:t>у складі напівпричепа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07660" y="653796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>
                <a:solidFill>
                  <a:srgbClr val="F2530A"/>
                </a:solidFill>
                <a:latin typeface="Courier New"/>
              </a:rPr>
              <a:t>✓ В КОМПЛЕКТІ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005840" y="7104888"/>
            <a:ext cx="5544820" cy="0"/>
          </a:xfrm>
          <a:prstGeom prst="line">
            <a:avLst/>
          </a:prstGeom>
          <a:ln w="9525">
            <a:solidFill>
              <a:srgbClr val="0D0E10"/>
            </a:solidFill>
            <a:prstDash val="lgDash"/>
          </a:ln>
        </p:spPr>
      </p:cxnSp>
      <p:sp>
        <p:nvSpPr>
          <p:cNvPr id="48" name="TextBox 47"/>
          <p:cNvSpPr txBox="1"/>
          <p:nvPr/>
        </p:nvSpPr>
        <p:spPr>
          <a:xfrm>
            <a:off x="1005840" y="7251192"/>
            <a:ext cx="55448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5E605F"/>
                </a:solidFill>
                <a:latin typeface="Courier New"/>
              </a:rPr>
              <a:t>РАЗОМ, З ПДВ</a:t>
            </a:r>
          </a:p>
        </p:txBody>
      </p:sp>
      <p:pic>
        <p:nvPicPr>
          <p:cNvPr id="49" name="fld_price" descr="p7_pri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" y="7498080"/>
            <a:ext cx="3563112" cy="539496"/>
          </a:xfrm>
          <a:prstGeom prst="rect">
            <a:avLst/>
          </a:prstGeom>
        </p:spPr>
      </p:pic>
      <p:sp>
        <p:nvSpPr>
          <p:cNvPr id="50" name="TextBox 49"/>
          <p:cNvSpPr txBox="1"/>
          <p:nvPr/>
        </p:nvSpPr>
        <p:spPr>
          <a:xfrm>
            <a:off x="4660392" y="7498080"/>
            <a:ext cx="548640" cy="539496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3000" b="1">
                <a:solidFill>
                  <a:srgbClr val="F2530A"/>
                </a:solidFill>
                <a:latin typeface="Arial"/>
              </a:rPr>
              <a:t>₴</a:t>
            </a:r>
          </a:p>
        </p:txBody>
      </p:sp>
      <p:sp>
        <p:nvSpPr>
          <p:cNvPr id="51" name="fld_price_note"/>
          <p:cNvSpPr txBox="1"/>
          <p:nvPr/>
        </p:nvSpPr>
        <p:spPr>
          <a:xfrm>
            <a:off x="1005840" y="8129016"/>
            <a:ext cx="55448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Ціна вказана із урахуванням ПДВ.</a:t>
            </a:r>
          </a:p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Станом на 29.09.2026 р.</a:t>
            </a:r>
          </a:p>
          <a:p>
            <a:pPr algn="l">
              <a:lnSpc>
                <a:spcPct val="115000"/>
              </a:lnSpc>
            </a:pPr>
            <a:r>
              <a:rPr sz="750" b="0">
                <a:solidFill>
                  <a:srgbClr val="5E605F"/>
                </a:solidFill>
                <a:latin typeface="Arial"/>
              </a:rPr>
              <a:t>Вартість обладнання прив’язана до курсу купівлі Євро та буде переглянута у разі зростання курсу</a:t>
            </a:r>
          </a:p>
        </p:txBody>
      </p:sp>
      <p:pic>
        <p:nvPicPr>
          <p:cNvPr id="52" name="Picture 51" descr="barcode_in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5840" y="8988552"/>
            <a:ext cx="2011680" cy="256032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3807460" y="90251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0D0E10"/>
                </a:solidFill>
                <a:latin typeface="Courier New"/>
              </a:rPr>
              <a:t>BMF 720 У КОМПЛЕКТІ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AE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ligh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5E605F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5E605F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06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C9C5BB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C9C5B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05 // </a:t>
            </a:r>
            <a:r>
              <a:rPr sz="750" b="1" spc="150">
                <a:solidFill>
                  <a:srgbClr val="5E605F"/>
                </a:solidFill>
                <a:latin typeface="Courier New"/>
              </a:rPr>
              <a:t>УМОВИ СПІВПРАЦІ</a:t>
            </a:r>
          </a:p>
        </p:txBody>
      </p:sp>
      <p:pic>
        <p:nvPicPr>
          <p:cNvPr id="25" name="hdr_p8_hdr" descr="p8_hd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" y="1005840"/>
            <a:ext cx="2855976" cy="749808"/>
          </a:xfrm>
          <a:prstGeom prst="rect">
            <a:avLst/>
          </a:prstGeom>
        </p:spPr>
      </p:pic>
      <p:cxnSp>
        <p:nvCxnSpPr>
          <p:cNvPr id="26" name="Connector 25"/>
          <p:cNvCxnSpPr/>
          <p:nvPr/>
        </p:nvCxnSpPr>
        <p:spPr>
          <a:xfrm>
            <a:off x="704088" y="2606040"/>
            <a:ext cx="0" cy="5257800"/>
          </a:xfrm>
          <a:prstGeom prst="line">
            <a:avLst/>
          </a:prstGeom>
          <a:ln w="19050">
            <a:solidFill>
              <a:srgbClr val="C9C5BB"/>
            </a:solidFill>
          </a:ln>
        </p:spPr>
      </p:cxnSp>
      <p:sp>
        <p:nvSpPr>
          <p:cNvPr id="27" name="Rectangle 26"/>
          <p:cNvSpPr/>
          <p:nvPr/>
        </p:nvSpPr>
        <p:spPr>
          <a:xfrm>
            <a:off x="457200" y="23317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23317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23134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ДОКУМЕНТАЦІЯ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26334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Укладається договір, у якому зазначаються всі ключові аспекти угоди, разом із товаром надається повний пакет документів для реєстрації НПЛ-10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3703320"/>
            <a:ext cx="493776" cy="49377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37033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6850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ТЕРМІНИ ВИГОТОВЛЕННЯ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0050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При індивідуальному замовленні - протягом 60 календарних днів з моменту підписання Договору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0749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50749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88720" y="50566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ОПЛАТА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88720" y="53766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Повна оплата, оплата частинами відповідно до умов договору, кредитні умови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4465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64465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88720" y="64282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ДОСТАВКА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67482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Здійснюється за рахунок покупця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7818120"/>
            <a:ext cx="493776" cy="49377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7818120"/>
            <a:ext cx="493776" cy="49377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7799832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 spc="50">
                <a:solidFill>
                  <a:srgbClr val="0D0E10"/>
                </a:solidFill>
                <a:latin typeface="Arial"/>
              </a:rPr>
              <a:t>БОНУСИ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88720" y="8119872"/>
            <a:ext cx="32461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>
                <a:solidFill>
                  <a:srgbClr val="5E605F"/>
                </a:solidFill>
                <a:latin typeface="Arial"/>
              </a:rPr>
              <a:t>При купівлі понад 2-ох одиниць НПЛ-10 гарантовано діє персональна система знижок</a:t>
            </a:r>
          </a:p>
        </p:txBody>
      </p:sp>
      <p:pic>
        <p:nvPicPr>
          <p:cNvPr id="47" name="hdr_p8_60" descr="p8_6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2148840"/>
            <a:ext cx="2331720" cy="1365689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4754880" y="3840480"/>
            <a:ext cx="23774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spc="150">
                <a:solidFill>
                  <a:srgbClr val="0D0E10"/>
                </a:solidFill>
                <a:latin typeface="Courier New"/>
              </a:rPr>
              <a:t>КАЛЕНДАРНИХ ДНІВ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0" y="406908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00" b="0">
                <a:solidFill>
                  <a:srgbClr val="5E605F"/>
                </a:solidFill>
                <a:latin typeface="Arial"/>
              </a:rPr>
              <a:t>поставки під замовлення з моменту підписання договору</a:t>
            </a:r>
          </a:p>
        </p:txBody>
      </p:sp>
      <p:pic>
        <p:nvPicPr>
          <p:cNvPr id="50" name="Picture 49" descr="p8_photo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800600"/>
            <a:ext cx="2331720" cy="3611880"/>
          </a:xfrm>
          <a:prstGeom prst="rect">
            <a:avLst/>
          </a:prstGeom>
        </p:spPr>
      </p:pic>
      <p:cxnSp>
        <p:nvCxnSpPr>
          <p:cNvPr id="51" name="Connector 50"/>
          <p:cNvCxnSpPr/>
          <p:nvPr/>
        </p:nvCxnSpPr>
        <p:spPr>
          <a:xfrm>
            <a:off x="4754880" y="480060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2" name="Connector 51"/>
          <p:cNvCxnSpPr/>
          <p:nvPr/>
        </p:nvCxnSpPr>
        <p:spPr>
          <a:xfrm>
            <a:off x="4754880" y="4800600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3" name="Connector 52"/>
          <p:cNvCxnSpPr/>
          <p:nvPr/>
        </p:nvCxnSpPr>
        <p:spPr>
          <a:xfrm flipH="1">
            <a:off x="6922008" y="480060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4" name="Connector 53"/>
          <p:cNvCxnSpPr/>
          <p:nvPr/>
        </p:nvCxnSpPr>
        <p:spPr>
          <a:xfrm>
            <a:off x="7086600" y="4800600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5" name="Connector 54"/>
          <p:cNvCxnSpPr/>
          <p:nvPr/>
        </p:nvCxnSpPr>
        <p:spPr>
          <a:xfrm>
            <a:off x="4754880" y="841248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6" name="Connector 55"/>
          <p:cNvCxnSpPr/>
          <p:nvPr/>
        </p:nvCxnSpPr>
        <p:spPr>
          <a:xfrm flipV="1">
            <a:off x="4754880" y="824788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7" name="Connector 56"/>
          <p:cNvCxnSpPr/>
          <p:nvPr/>
        </p:nvCxnSpPr>
        <p:spPr>
          <a:xfrm flipH="1">
            <a:off x="6922008" y="8412480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58" name="Connector 57"/>
          <p:cNvCxnSpPr/>
          <p:nvPr/>
        </p:nvCxnSpPr>
        <p:spPr>
          <a:xfrm flipV="1">
            <a:off x="7086600" y="824788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4754880" y="8503920"/>
            <a:ext cx="23317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5E605F"/>
                </a:solidFill>
                <a:latin typeface="Courier New"/>
              </a:rPr>
              <a:t>ГІДРАВЛІЧНИЙ БАК В ЗБОРІ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57200" y="9253728"/>
            <a:ext cx="6642100" cy="384048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94360" y="9253728"/>
            <a:ext cx="63677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Усі умови узгоджуємо індивідуально з клієнтом до підписання договору — можуть відрізнятись від вищезазначених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B9BBBE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B9BBBE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F2530A"/>
                </a:solidFill>
                <a:latin typeface="Courier New"/>
              </a:rPr>
              <a:t>07 / 08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9" name="Picture 8" descr="barcod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07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2" name="Connector 11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3" name="Oval 12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6" name="Oval 15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8" name="Connector 17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19" name="Oval 18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2" name="Oval 21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F2530A"/>
                </a:solidFill>
                <a:latin typeface="Courier New"/>
              </a:rPr>
              <a:t>06 // </a:t>
            </a:r>
            <a:r>
              <a:rPr sz="750" b="1" spc="150">
                <a:solidFill>
                  <a:srgbClr val="B9BBBE"/>
                </a:solidFill>
                <a:latin typeface="Courier New"/>
              </a:rPr>
              <a:t>НАШІ ПЕРЕВАГИ</a:t>
            </a:r>
          </a:p>
        </p:txBody>
      </p:sp>
      <p:pic>
        <p:nvPicPr>
          <p:cNvPr id="25" name="hdr_p9_hdr" descr="p9_hd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9768" y="1005840"/>
            <a:ext cx="2474858" cy="691896"/>
          </a:xfrm>
          <a:prstGeom prst="rect">
            <a:avLst/>
          </a:prstGeom>
        </p:spPr>
      </p:pic>
      <p:pic>
        <p:nvPicPr>
          <p:cNvPr id="26" name="hdr_p9_100" descr="p9_1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2331720"/>
            <a:ext cx="3017520" cy="987647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3657600"/>
            <a:ext cx="3108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понад 100 одиниць</a:t>
            </a:r>
          </a:p>
          <a:p>
            <a:pPr algn="l">
              <a:lnSpc>
                <a:spcPct val="105000"/>
              </a:lnSpc>
            </a:pPr>
            <a:r>
              <a:rPr sz="1500" b="1">
                <a:solidFill>
                  <a:srgbClr val="FFFFFF"/>
                </a:solidFill>
                <a:latin typeface="Arial"/>
              </a:rPr>
              <a:t>виготовлених НПЛ-10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315968"/>
            <a:ext cx="310896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ВЛАСНЕ ВИРОБНИЦТВО · м. САРНИ</a:t>
            </a:r>
          </a:p>
        </p:txBody>
      </p:sp>
      <p:pic>
        <p:nvPicPr>
          <p:cNvPr id="29" name="collage" descr="image1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94760" y="2240280"/>
            <a:ext cx="3300984" cy="2642616"/>
          </a:xfrm>
          <a:prstGeom prst="rect">
            <a:avLst/>
          </a:prstGeom>
        </p:spPr>
      </p:pic>
      <p:cxnSp>
        <p:nvCxnSpPr>
          <p:cNvPr id="30" name="Connector 29"/>
          <p:cNvCxnSpPr/>
          <p:nvPr/>
        </p:nvCxnSpPr>
        <p:spPr>
          <a:xfrm>
            <a:off x="3721608" y="216712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1" name="Connector 30"/>
          <p:cNvCxnSpPr/>
          <p:nvPr/>
        </p:nvCxnSpPr>
        <p:spPr>
          <a:xfrm>
            <a:off x="3721608" y="216712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2" name="Connector 31"/>
          <p:cNvCxnSpPr/>
          <p:nvPr/>
        </p:nvCxnSpPr>
        <p:spPr>
          <a:xfrm flipH="1">
            <a:off x="7004304" y="216712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3" name="Connector 32"/>
          <p:cNvCxnSpPr/>
          <p:nvPr/>
        </p:nvCxnSpPr>
        <p:spPr>
          <a:xfrm>
            <a:off x="7168896" y="2167128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3721608" y="495604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5" name="Connector 34"/>
          <p:cNvCxnSpPr/>
          <p:nvPr/>
        </p:nvCxnSpPr>
        <p:spPr>
          <a:xfrm flipV="1">
            <a:off x="3721608" y="4791456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6" name="Connector 35"/>
          <p:cNvCxnSpPr/>
          <p:nvPr/>
        </p:nvCxnSpPr>
        <p:spPr>
          <a:xfrm flipH="1">
            <a:off x="7004304" y="4956048"/>
            <a:ext cx="164592" cy="0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cxnSp>
        <p:nvCxnSpPr>
          <p:cNvPr id="37" name="Connector 36"/>
          <p:cNvCxnSpPr/>
          <p:nvPr/>
        </p:nvCxnSpPr>
        <p:spPr>
          <a:xfrm flipV="1">
            <a:off x="7168896" y="4791456"/>
            <a:ext cx="0" cy="164592"/>
          </a:xfrm>
          <a:prstGeom prst="line">
            <a:avLst/>
          </a:prstGeom>
          <a:ln w="15875">
            <a:solidFill>
              <a:srgbClr val="F2530A"/>
            </a:solidFill>
          </a:ln>
        </p:spPr>
      </p:cxnSp>
      <p:sp>
        <p:nvSpPr>
          <p:cNvPr id="38" name="TextBox 37"/>
          <p:cNvSpPr txBox="1"/>
          <p:nvPr/>
        </p:nvSpPr>
        <p:spPr>
          <a:xfrm>
            <a:off x="3794760" y="5010912"/>
            <a:ext cx="329184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20">
                <a:solidFill>
                  <a:srgbClr val="B9BBBE"/>
                </a:solidFill>
                <a:latin typeface="Courier New"/>
              </a:rPr>
              <a:t>ПРИКЛАДИ ВИРОБІВ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39496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03504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03504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Досвід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01713" y="539496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48017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48017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Сертифікати якості виробництва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946227" y="5394960"/>
            <a:ext cx="2153073" cy="132588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92531" y="552297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0D0E10"/>
                </a:solidFill>
                <a:latin typeface="Courier New"/>
              </a:rPr>
              <a:t>03</a:t>
            </a:r>
          </a:p>
        </p:txBody>
      </p:sp>
      <p:pic>
        <p:nvPicPr>
          <p:cNvPr id="47" name="Picture 46" descr="logo_1A1A1A_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6068" y="5504688"/>
            <a:ext cx="566928" cy="224028"/>
          </a:xfrm>
          <a:prstGeom prst="rect">
            <a:avLst/>
          </a:prstGeom>
        </p:spPr>
      </p:pic>
      <p:sp>
        <p:nvSpPr>
          <p:cNvPr id="48" name="TextBox 47"/>
          <p:cNvSpPr txBox="1"/>
          <p:nvPr/>
        </p:nvSpPr>
        <p:spPr>
          <a:xfrm>
            <a:off x="5092531" y="606247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D0E10"/>
                </a:solidFill>
                <a:latin typeface="Arial"/>
              </a:rPr>
              <a:t>Офіційні дистриб'ютори BMF в Україні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7200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3504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03504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Індивідуальний підхід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01713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48017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48017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Якісні матеріали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46227" y="681228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92531" y="694029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092531" y="747979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Контроль якості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57200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3504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03504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Бонуси постійним клієнтам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01713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848017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848017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Надійність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946227" y="8229600"/>
            <a:ext cx="2153073" cy="1325880"/>
          </a:xfrm>
          <a:prstGeom prst="rect">
            <a:avLst/>
          </a:prstGeom>
          <a:solidFill>
            <a:srgbClr val="17191D"/>
          </a:solidFill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092531" y="8357616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00">
                <a:solidFill>
                  <a:srgbClr val="F2530A"/>
                </a:solidFill>
                <a:latin typeface="Courier New"/>
              </a:rPr>
              <a:t>09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092531" y="8897112"/>
            <a:ext cx="1878753" cy="5486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FFFFFF"/>
                </a:solidFill>
                <a:latin typeface="Arial"/>
              </a:rPr>
              <a:t>Виготовлення під замовлення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E1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g_grid" descr="grid_dar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56500" cy="10693400"/>
          </a:xfrm>
          <a:prstGeom prst="rect">
            <a:avLst/>
          </a:prstGeom>
          <a:ln>
            <a:solidFill>
              <a:srgbClr val="0D0E10"/>
            </a:solidFill>
          </a:ln>
        </p:spPr>
      </p:pic>
      <p:sp>
        <p:nvSpPr>
          <p:cNvPr id="3" name="cta_orange"/>
          <p:cNvSpPr/>
          <p:nvPr/>
        </p:nvSpPr>
        <p:spPr>
          <a:xfrm>
            <a:off x="0" y="0"/>
            <a:ext cx="7556500" cy="4434840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01752"/>
            <a:ext cx="27432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0D0E10"/>
                </a:solidFill>
                <a:latin typeface="Courier New"/>
              </a:rPr>
              <a:t>BMF 720 · КРАН У КОМПЛЕКТІ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301752"/>
            <a:ext cx="279806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00" b="1" spc="150">
                <a:solidFill>
                  <a:srgbClr val="0D0E10"/>
                </a:solidFill>
                <a:latin typeface="Courier New"/>
              </a:rPr>
              <a:t>КОМЕРЦІЙНА ПРОПОЗИЦІЯ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84900" y="301752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b="1" spc="150">
                <a:solidFill>
                  <a:srgbClr val="0D0E10"/>
                </a:solidFill>
                <a:latin typeface="Courier New"/>
              </a:rPr>
              <a:t>08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" y="512064"/>
            <a:ext cx="6642100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457200" y="10126472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457200" y="10236200"/>
            <a:ext cx="4206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spc="120">
                <a:solidFill>
                  <a:srgbClr val="B9BBBE"/>
                </a:solidFill>
                <a:latin typeface="Courier New"/>
              </a:rPr>
              <a:t>ФОП ДЕБЕЛИЙ В.М.  ·  м. САРНИ  ·  BMF.RV.UA</a:t>
            </a:r>
          </a:p>
        </p:txBody>
      </p:sp>
      <p:pic>
        <p:nvPicPr>
          <p:cNvPr id="10" name="Picture 9" descr="barcode_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7660" y="10236200"/>
            <a:ext cx="1051560" cy="1463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0660" y="1018133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>
                <a:solidFill>
                  <a:srgbClr val="F2530A"/>
                </a:solidFill>
                <a:latin typeface="Arial"/>
              </a:rPr>
              <a:t>08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73736" y="256032"/>
            <a:ext cx="164592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13" name="Connector 12"/>
          <p:cNvCxnSpPr/>
          <p:nvPr/>
        </p:nvCxnSpPr>
        <p:spPr>
          <a:xfrm>
            <a:off x="256032" y="173736"/>
            <a:ext cx="0" cy="164592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sp>
        <p:nvSpPr>
          <p:cNvPr id="14" name="Oval 13"/>
          <p:cNvSpPr/>
          <p:nvPr/>
        </p:nvSpPr>
        <p:spPr>
          <a:xfrm>
            <a:off x="214884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18172" y="256032"/>
            <a:ext cx="164592" cy="0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7300468" y="173736"/>
            <a:ext cx="0" cy="164592"/>
          </a:xfrm>
          <a:prstGeom prst="line">
            <a:avLst/>
          </a:prstGeom>
          <a:ln w="6350">
            <a:solidFill>
              <a:srgbClr val="0D0E10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7259320" y="214884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173736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256032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0" name="Oval 19"/>
          <p:cNvSpPr/>
          <p:nvPr/>
        </p:nvSpPr>
        <p:spPr>
          <a:xfrm>
            <a:off x="214884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7218172" y="10437368"/>
            <a:ext cx="164592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cxnSp>
        <p:nvCxnSpPr>
          <p:cNvPr id="22" name="Connector 21"/>
          <p:cNvCxnSpPr/>
          <p:nvPr/>
        </p:nvCxnSpPr>
        <p:spPr>
          <a:xfrm>
            <a:off x="7300468" y="10355072"/>
            <a:ext cx="0" cy="164592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23" name="Oval 22"/>
          <p:cNvSpPr/>
          <p:nvPr/>
        </p:nvSpPr>
        <p:spPr>
          <a:xfrm>
            <a:off x="7259320" y="10396220"/>
            <a:ext cx="82296" cy="82296"/>
          </a:xfrm>
          <a:prstGeom prst="ellipse">
            <a:avLst/>
          </a:prstGeom>
          <a:noFill/>
          <a:ln w="6350">
            <a:solidFill>
              <a:srgbClr val="2C2F3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781812"/>
            <a:ext cx="82296" cy="82296"/>
          </a:xfrm>
          <a:prstGeom prst="rect">
            <a:avLst/>
          </a:prstGeom>
          <a:solidFill>
            <a:srgbClr val="0D0E1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749808"/>
            <a:ext cx="5943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50" b="1" spc="150">
                <a:solidFill>
                  <a:srgbClr val="0D0E10"/>
                </a:solidFill>
                <a:latin typeface="Courier New"/>
              </a:rPr>
              <a:t>07 // </a:t>
            </a:r>
            <a:r>
              <a:rPr sz="750" b="1" spc="150">
                <a:solidFill>
                  <a:srgbClr val="0D0E10"/>
                </a:solidFill>
                <a:latin typeface="Courier New"/>
              </a:rPr>
              <a:t>ДОДАТКОВІ ДЕТАЛІ</a:t>
            </a:r>
          </a:p>
        </p:txBody>
      </p:sp>
      <p:pic>
        <p:nvPicPr>
          <p:cNvPr id="26" name="hdr_p10_hdr" descr="p10_hdr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480" y="1024128"/>
            <a:ext cx="5468786" cy="133197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457200" y="3154680"/>
            <a:ext cx="45720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1">
                <a:solidFill>
                  <a:srgbClr val="0D0E10"/>
                </a:solidFill>
                <a:latin typeface="Arial"/>
              </a:rPr>
              <a:t>Ми готові відповісти на всі ваші запитання та обговорити деталі співпраці. Очікуємо на вашу відповідь для узгодження замовлення.</a:t>
            </a:r>
          </a:p>
        </p:txBody>
      </p:sp>
      <p:pic>
        <p:nvPicPr>
          <p:cNvPr id="28" name="Picture 27" descr="logo_1A1A1A_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460" y="3200400"/>
            <a:ext cx="1005840" cy="3968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179060" y="365760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50" b="1" spc="100">
                <a:solidFill>
                  <a:srgbClr val="0D0E10"/>
                </a:solidFill>
                <a:latin typeface="Courier New"/>
              </a:rPr>
              <a:t>ОФІЦІЙНІ ДИСТРИБ'ЮТОРИ</a:t>
            </a:r>
          </a:p>
          <a:p>
            <a:pPr algn="r"/>
            <a:r>
              <a:rPr sz="650" b="1" spc="100">
                <a:solidFill>
                  <a:srgbClr val="0D0E10"/>
                </a:solidFill>
                <a:latin typeface="Courier New"/>
              </a:rPr>
              <a:t>BMF В УКРАЇНІ</a:t>
            </a:r>
          </a:p>
        </p:txBody>
      </p:sp>
      <p:pic>
        <p:nvPicPr>
          <p:cNvPr id="30" name="Picture 29" descr="hz_ct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4434840"/>
            <a:ext cx="7556500" cy="182880"/>
          </a:xfrm>
          <a:prstGeom prst="rect">
            <a:avLst/>
          </a:prstGeom>
        </p:spPr>
      </p:pic>
      <p:pic>
        <p:nvPicPr>
          <p:cNvPr id="31" name="cta_cutout" descr="cutout_np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57600" y="6530798"/>
            <a:ext cx="3529584" cy="1424482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57200" y="502920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02920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ТЕЛЕФОН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" y="523036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(+380) 673630629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(+380) 681775997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589788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" y="589788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САЙТ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609904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https://www.bmf.ee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https://bmf.rv.ua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676656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676656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EMAIL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" y="696772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debeliy78@ukr.net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7635240"/>
            <a:ext cx="54864" cy="566928"/>
          </a:xfrm>
          <a:prstGeom prst="rect">
            <a:avLst/>
          </a:prstGeom>
          <a:solidFill>
            <a:srgbClr val="F253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7635240"/>
            <a:ext cx="301752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50">
                <a:solidFill>
                  <a:srgbClr val="F2530A"/>
                </a:solidFill>
                <a:latin typeface="Courier New"/>
              </a:rPr>
              <a:t>АДРЕСА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7836408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вул. Заводська 5, м. Сарни</a:t>
            </a:r>
          </a:p>
          <a:p>
            <a:pPr algn="l">
              <a:lnSpc>
                <a:spcPct val="105000"/>
              </a:lnSpc>
            </a:pPr>
            <a:r>
              <a:rPr sz="1200" b="1">
                <a:solidFill>
                  <a:srgbClr val="FFFFFF"/>
                </a:solidFill>
                <a:latin typeface="Arial"/>
              </a:rPr>
              <a:t>Рівненська обл., Україна, 34500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57200" y="8595360"/>
            <a:ext cx="6642100" cy="0"/>
          </a:xfrm>
          <a:prstGeom prst="line">
            <a:avLst/>
          </a:prstGeom>
          <a:ln w="6350">
            <a:solidFill>
              <a:srgbClr val="2C2F35"/>
            </a:solidFill>
          </a:ln>
        </p:spPr>
      </p:cxnSp>
      <p:sp>
        <p:nvSpPr>
          <p:cNvPr id="45" name="TextBox 44"/>
          <p:cNvSpPr txBox="1"/>
          <p:nvPr/>
        </p:nvSpPr>
        <p:spPr>
          <a:xfrm>
            <a:off x="457200" y="8796528"/>
            <a:ext cx="30175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b="1" spc="120">
                <a:solidFill>
                  <a:srgbClr val="F2530A"/>
                </a:solidFill>
                <a:latin typeface="Courier New"/>
              </a:rPr>
              <a:t>СКАНУЙТЕ — І МИ НА ЗВʼЯЗКУ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9006840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1">
                <a:solidFill>
                  <a:srgbClr val="FFFFFF"/>
                </a:solidFill>
                <a:latin typeface="Arial"/>
              </a:rPr>
              <a:t>Наш сайт, TikTok та Instagram.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2452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48" name="qr_сайт" descr="image5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70248" y="8778240"/>
            <a:ext cx="621792" cy="621792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422452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САЙТ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4748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1" name="qr_tiktok" descr="image6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3208" y="8778240"/>
            <a:ext cx="621792" cy="621792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504748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TIKTOK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870448" y="8732520"/>
            <a:ext cx="713232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4" name="qr_instagram" descr="image7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16168" y="8778240"/>
            <a:ext cx="621792" cy="621792"/>
          </a:xfrm>
          <a:prstGeom prst="rect">
            <a:avLst/>
          </a:prstGeom>
        </p:spPr>
      </p:pic>
      <p:sp>
        <p:nvSpPr>
          <p:cNvPr id="55" name="TextBox 54"/>
          <p:cNvSpPr txBox="1"/>
          <p:nvPr/>
        </p:nvSpPr>
        <p:spPr>
          <a:xfrm>
            <a:off x="5870448" y="9500616"/>
            <a:ext cx="7132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B9BBBE"/>
                </a:solidFill>
                <a:latin typeface="Courier New"/>
              </a:rPr>
              <a:t>INSTAGRAM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9710928"/>
            <a:ext cx="66421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8B8C88"/>
                </a:solidFill>
                <a:latin typeface="Courier New"/>
              </a:rPr>
              <a:t>ДАНА КОМЕРЦІЙНА ПРОПОЗИЦІЯ МАЄ ВИКЛЮЧНО ІНФОРМАЦІЙНИЙ ХАРАКТЕР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" y="9875520"/>
            <a:ext cx="664210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600" b="1" spc="100">
                <a:solidFill>
                  <a:srgbClr val="8B8C88"/>
                </a:solidFill>
                <a:latin typeface="Courier New"/>
              </a:rPr>
              <a:t>ВИРОБНИК: ФОП ДЕБЕЛИЙ ВОЛОДИМИР МИКОЛАЙОВИЧ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