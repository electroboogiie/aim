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1.jp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6.jp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4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cover_block"/>
          <p:cNvSpPr/>
          <p:nvPr/>
        </p:nvSpPr>
        <p:spPr>
          <a:xfrm>
            <a:off x="0" y="3977640"/>
            <a:ext cx="7556500" cy="6715760"/>
          </a:xfrm>
          <a:custGeom>
            <a:avLst/>
            <a:gdLst/>
            <a:ahLst/>
            <a:cxnLst/>
            <a:rect l="l" t="t" r="r" b="b"/>
            <a:pathLst>
              <a:path w="7556500" h="6715760">
                <a:moveTo>
                  <a:pt x="0" y="914400"/>
                </a:moveTo>
                <a:lnTo>
                  <a:pt x="7556500" y="0"/>
                </a:lnTo>
                <a:lnTo>
                  <a:pt x="7556500" y="6715760"/>
                </a:lnTo>
                <a:lnTo>
                  <a:pt x="0" y="6715760"/>
                </a:lnTo>
                <a:close/>
              </a:path>
            </a:pathLst>
          </a:cu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hz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620" y="4370832"/>
            <a:ext cx="2011680" cy="118872"/>
          </a:xfrm>
          <a:prstGeom prst="rect">
            <a:avLst/>
          </a:prstGeom>
        </p:spPr>
      </p:pic>
      <p:pic>
        <p:nvPicPr>
          <p:cNvPr id="5" name="hdr_cover_10t" descr="cover_10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486400"/>
            <a:ext cx="4084320" cy="195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50">
                <a:solidFill>
                  <a:srgbClr val="0D0E10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8B8C88"/>
                </a:solidFill>
                <a:latin typeface="Courier New"/>
              </a:rPr>
              <a:t>ВЕРСІЯ 29.09.2026  ·  САРНИ, UA</a:t>
            </a:r>
          </a:p>
        </p:txBody>
      </p:sp>
      <p:pic>
        <p:nvPicPr>
          <p:cNvPr id="8" name="Picture 7" descr="logo_1A1A1A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620" y="274320"/>
            <a:ext cx="868680" cy="3429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749808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pic>
        <p:nvPicPr>
          <p:cNvPr id="10" name="hdr_cover_title" descr="cover_tit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896112"/>
            <a:ext cx="6733540" cy="1411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420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spc="400">
                <a:solidFill>
                  <a:srgbClr val="0D0E10"/>
                </a:solidFill>
                <a:latin typeface="Arial"/>
              </a:rPr>
              <a:t>НАПІВПРИЧІП-ЛІСОВОЗ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spc="150">
                <a:solidFill>
                  <a:srgbClr val="5E605F"/>
                </a:solidFill>
                <a:latin typeface="Courier New"/>
              </a:rPr>
              <a:t>ОБЛАДНАНИЙ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1328" y="2935224"/>
            <a:ext cx="4343400" cy="329184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935224"/>
            <a:ext cx="4343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Arial"/>
              </a:rPr>
              <a:t>ГІДРАВЛІЧНИМ КРАНОМ-МАНІПУЛЯТОРОМ BMF 720</a:t>
            </a:r>
          </a:p>
        </p:txBody>
      </p:sp>
      <p:pic>
        <p:nvPicPr>
          <p:cNvPr id="15" name="hero_cutout" descr="cutout_np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0" y="3520440"/>
            <a:ext cx="4838533" cy="4892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257800" y="48006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49103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10 000</a:t>
            </a:r>
            <a:r>
              <a:rPr sz="924" b="1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5223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ВАНТАЖОПІДЙОМНІСТЬ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5586984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56967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7,2</a:t>
            </a:r>
            <a:r>
              <a:rPr sz="924" b="1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6009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ВИЛІТ КРАНА BMF 720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6373368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648309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10,0</a:t>
            </a:r>
            <a:r>
              <a:rPr sz="924" b="1">
                <a:solidFill>
                  <a:srgbClr val="F2530A"/>
                </a:solidFill>
                <a:latin typeface="Arial"/>
              </a:rPr>
              <a:t>  м³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67960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ОБ'ЄМ ВАНТАЖНОГО ПРОСТОРУ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7159752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72694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  <a:r>
              <a:rPr sz="924" b="1">
                <a:solidFill>
                  <a:srgbClr val="F2530A"/>
                </a:solidFill>
                <a:latin typeface="Arial"/>
              </a:rPr>
              <a:t>  шт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7582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КОНИКИ / СТІЙКИ</a:t>
            </a:r>
          </a:p>
        </p:txBody>
      </p:sp>
      <p:pic>
        <p:nvPicPr>
          <p:cNvPr id="28" name="hdr_cover_slogan" descr="cover_slog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8503920"/>
            <a:ext cx="3913632" cy="591312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457200" y="9253728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57200" y="937260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ТЕЛЕФОН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5280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(+380) 673630629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(+380) 681775997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937260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САЙТ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95280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https://www.bmf.ee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https://bmf.rv.ua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87552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0030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debeliy78@ukr.net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9875520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АДРЕСА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100309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вул. Заводська 5, м. Сарни, Рівненська обл., Україна, 34500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qr_сайт" descr="image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768" y="9390888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56048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САЙТ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78424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qr_tiktok" descr="image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9390888"/>
            <a:ext cx="512064" cy="5120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78424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TIKTOK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qr_instagram" descr="image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9390888"/>
            <a:ext cx="512064" cy="5120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00800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INSTAGRAM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0473944"/>
            <a:ext cx="66421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20">
                <a:solidFill>
                  <a:srgbClr val="8B8C88"/>
                </a:solidFill>
                <a:latin typeface="Courier New"/>
              </a:rPr>
              <a:t>ВИРОБНИК: ФОП ДЕБЕЛИЙ ВОЛОДИМИР МИКОЛАЙОВИЧ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2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65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02</a:t>
            </a:r>
            <a:r>
              <a:rPr sz="700" b="1" spc="150">
                <a:solidFill>
                  <a:srgbClr val="FFFFFF"/>
                </a:solidFill>
                <a:latin typeface="Courier New"/>
              </a:rPr>
              <a:t>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8493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85292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01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ЗАГАЛЬНА ІНФОРМАЦІЯ · НПЛ-10</a:t>
            </a:r>
          </a:p>
        </p:txBody>
      </p:sp>
      <p:pic>
        <p:nvPicPr>
          <p:cNvPr id="26" name="hdr_p2_hdr" descr="p2_h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127248"/>
            <a:ext cx="4648200" cy="98755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7200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10 000</a:t>
            </a:r>
            <a:r>
              <a:rPr sz="924" b="1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ВАНТАЖОПІДЙОМНІСТЬ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17725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7725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6950</a:t>
            </a:r>
            <a:r>
              <a:rPr sz="924" b="1">
                <a:solidFill>
                  <a:srgbClr val="F2530A"/>
                </a:solidFill>
                <a:latin typeface="Arial"/>
              </a:rPr>
              <a:t>  мм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7725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ДОВЖИНА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78250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8250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2412</a:t>
            </a:r>
            <a:r>
              <a:rPr sz="924" b="1">
                <a:solidFill>
                  <a:srgbClr val="F2530A"/>
                </a:solidFill>
                <a:latin typeface="Arial"/>
              </a:rPr>
              <a:t>  мм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8250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ШИРИНА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8775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38775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2789</a:t>
            </a:r>
            <a:r>
              <a:rPr sz="924" b="1">
                <a:solidFill>
                  <a:srgbClr val="F2530A"/>
                </a:solidFill>
                <a:latin typeface="Arial"/>
              </a:rPr>
              <a:t>  мм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8775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ВИСОТА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5413248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40" name="fld_npl_lead"/>
          <p:cNvSpPr txBox="1"/>
          <p:nvPr/>
        </p:nvSpPr>
        <p:spPr>
          <a:xfrm>
            <a:off x="457200" y="5577840"/>
            <a:ext cx="66421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Напівпричіп лісовоз НПЛ-10 — це повнокомплектний транспортний засіб, розроблений для перевезення деревини у умовах бездоріжжя та на дорогах загального користування.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318389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КОНСТРУКЦІЯ ТА ХОДОВА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729984"/>
            <a:ext cx="318389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Міцна конструкція включає посилений балансир для забезпечення стійкості, раму зі стінками товщиною 10 мм і шасі з бічними лонжеронами. Оснащений механічним тягово-зчіпним пристроєм із петлею, прикріпленою до дишла зварюванням. Ходова частина складається з ресорної підвіски та чотирьох піввісей, дві з яких обладнані гальмівною системою (гідравлічною чи пневматичною).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5410" y="6510528"/>
            <a:ext cx="318389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КОНФІГУРАЦІЯ ПІД ЗАВДАННЯ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15410" y="6729984"/>
            <a:ext cx="318389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Передбачена можливість установки гідравлічних кранів-маніпуляторів BMF (BMF 650, BMF 720, BMF 750, BMF 850), вибору типу гальм, розміру коліс (400/60-15.5, 500/50-17, 550/45-22.5), кількості стійок (коників), наявності місця для оператора тощо.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15410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5410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650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20082" y="8339328"/>
            <a:ext cx="749808" cy="237744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20082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ourier New"/>
              </a:rPr>
              <a:t>BMF 720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4754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4754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750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9426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9426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850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8796528"/>
            <a:ext cx="7556500" cy="109728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8897112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0D0E10"/>
                </a:solidFill>
                <a:latin typeface="Courier New"/>
              </a:rPr>
              <a:t>ЧОМУ НПЛ-10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9079992"/>
            <a:ext cx="66421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D0E10"/>
                </a:solidFill>
                <a:latin typeface="Arial"/>
              </a:rPr>
              <a:t>Завдяки своїй надійності та можливості адаптації НПЛ-10 є ефективним рішенням для лісової галузі, а його помаранчево-чорне забарвлення відмінно доповнює гідравлічні крани-маніпулятори BMF.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B9BBBE"/>
                </a:solidFill>
                <a:latin typeface="Courier New"/>
              </a:rPr>
              <a:t>НПЛ-10 × BMF 720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B9BBBE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03</a:t>
            </a:r>
            <a:r>
              <a:rPr sz="700" b="1" spc="150">
                <a:solidFill>
                  <a:srgbClr val="B9BBBE"/>
                </a:solidFill>
                <a:latin typeface="Courier New"/>
              </a:rPr>
              <a:t>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02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ГАБАРИТНІ РОЗМІРИ · НПЛ-10</a:t>
            </a:r>
          </a:p>
        </p:txBody>
      </p:sp>
      <p:pic>
        <p:nvPicPr>
          <p:cNvPr id="25" name="hdr_p3_hdr" descr="p3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3614928" cy="74980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" y="2148840"/>
            <a:ext cx="6642100" cy="397764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57200" y="214884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457200" y="214884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6898132" y="214884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099300" y="214884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457200" y="6126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457200" y="592531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6898132" y="6126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7099300" y="592531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21792" y="225856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B9BBBE"/>
                </a:solidFill>
                <a:latin typeface="Courier New"/>
              </a:rPr>
              <a:t>ВИД ЗБОКУ  ·  мм</a:t>
            </a:r>
          </a:p>
        </p:txBody>
      </p:sp>
      <p:pic>
        <p:nvPicPr>
          <p:cNvPr id="36" name="dwg_side" descr="dwg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41745"/>
            <a:ext cx="6093460" cy="297471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57200" y="6309360"/>
            <a:ext cx="3429000" cy="329184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57200" y="630936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457200" y="630936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0" name="Connector 39"/>
          <p:cNvCxnSpPr/>
          <p:nvPr/>
        </p:nvCxnSpPr>
        <p:spPr>
          <a:xfrm flipH="1">
            <a:off x="3685032" y="630936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886200" y="630936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457200" y="960120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457200" y="940003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3685032" y="960120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3886200" y="940003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21792" y="641908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B9BBBE"/>
                </a:solidFill>
                <a:latin typeface="Courier New"/>
              </a:rPr>
              <a:t>ВИД ЗЗАДУ  ·  мм</a:t>
            </a:r>
          </a:p>
        </p:txBody>
      </p:sp>
      <p:pic>
        <p:nvPicPr>
          <p:cNvPr id="47" name="dwg_rear" descr="dwg_r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58" y="6720840"/>
            <a:ext cx="3029484" cy="27432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114800" y="6355080"/>
            <a:ext cx="329184" cy="329184"/>
          </a:xfrm>
          <a:prstGeom prst="rect">
            <a:avLst/>
          </a:prstGeom>
          <a:noFill/>
          <a:ln w="12700">
            <a:solidFill>
              <a:srgbClr val="F253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63550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2530A"/>
                </a:solidFill>
                <a:latin typeface="Arial"/>
              </a:rPr>
              <a:t>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291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6950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6476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B9BBBE"/>
                </a:solidFill>
                <a:latin typeface="Courier New"/>
              </a:rPr>
              <a:t>ДОВЖИНА, ММ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14800" y="6912864"/>
            <a:ext cx="29845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53" name="Rectangle 52"/>
          <p:cNvSpPr/>
          <p:nvPr/>
        </p:nvSpPr>
        <p:spPr>
          <a:xfrm>
            <a:off x="4114800" y="7068312"/>
            <a:ext cx="329184" cy="329184"/>
          </a:xfrm>
          <a:prstGeom prst="rect">
            <a:avLst/>
          </a:prstGeom>
          <a:noFill/>
          <a:ln w="12700">
            <a:solidFill>
              <a:srgbClr val="F253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70683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2530A"/>
                </a:solidFill>
                <a:latin typeface="Arial"/>
              </a:rPr>
              <a:t>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700430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2412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736092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B9BBBE"/>
                </a:solidFill>
                <a:latin typeface="Courier New"/>
              </a:rPr>
              <a:t>ШИРИНА, ММ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14800" y="7626096"/>
            <a:ext cx="29845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4114800" y="7781544"/>
            <a:ext cx="329184" cy="329184"/>
          </a:xfrm>
          <a:prstGeom prst="rect">
            <a:avLst/>
          </a:prstGeom>
          <a:noFill/>
          <a:ln w="12700">
            <a:solidFill>
              <a:srgbClr val="F253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0" y="7781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2530A"/>
                </a:solidFill>
                <a:latin typeface="Arial"/>
              </a:rPr>
              <a:t>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771753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2789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80741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B9BBBE"/>
                </a:solidFill>
                <a:latin typeface="Courier New"/>
              </a:rPr>
              <a:t>ВИСОТА, ММ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14800" y="8339328"/>
            <a:ext cx="29845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63" name="Rectangle 62"/>
          <p:cNvSpPr/>
          <p:nvPr/>
        </p:nvSpPr>
        <p:spPr>
          <a:xfrm>
            <a:off x="4114800" y="8494776"/>
            <a:ext cx="329184" cy="329184"/>
          </a:xfrm>
          <a:prstGeom prst="rect">
            <a:avLst/>
          </a:prstGeom>
          <a:noFill/>
          <a:ln w="12700">
            <a:solidFill>
              <a:srgbClr val="F253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84947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2530A"/>
                </a:solidFill>
                <a:latin typeface="Arial"/>
              </a:rPr>
              <a:t>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843076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4500 × 2140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878738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B9BBBE"/>
                </a:solidFill>
                <a:latin typeface="Courier New"/>
              </a:rPr>
              <a:t>ПЛОЩА НАВАНТАЖЕННЯ, ММ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114800" y="9052560"/>
            <a:ext cx="29845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4114800" y="9189720"/>
            <a:ext cx="298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>
                <a:solidFill>
                  <a:srgbClr val="8B8C88"/>
                </a:solidFill>
                <a:latin typeface="Arial"/>
              </a:rPr>
              <a:t>* Креслення відповідають стандартному розміру.</a:t>
            </a:r>
          </a:p>
          <a:p>
            <a:pPr algn="l">
              <a:lnSpc>
                <a:spcPct val="110000"/>
              </a:lnSpc>
            </a:pPr>
            <a:r>
              <a:rPr sz="650" b="0">
                <a:solidFill>
                  <a:srgbClr val="8B8C88"/>
                </a:solidFill>
                <a:latin typeface="Arial"/>
              </a:rPr>
              <a:t>Габаритні та конструктивні розміри можуть змінюватися за погодженням із замовником.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hoto_npl" descr="p4_n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417320"/>
            <a:ext cx="5681980" cy="4675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5E605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5E605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04</a:t>
            </a:r>
            <a:r>
              <a:rPr sz="700" b="1" spc="150">
                <a:solidFill>
                  <a:srgbClr val="5E605F"/>
                </a:solidFill>
                <a:latin typeface="Courier New"/>
              </a:rPr>
              <a:t>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03 // </a:t>
            </a:r>
            <a:r>
              <a:rPr sz="750" b="1" spc="150">
                <a:solidFill>
                  <a:srgbClr val="5E605F"/>
                </a:solidFill>
                <a:latin typeface="Courier New"/>
              </a:rPr>
              <a:t>ТЕХНІЧНІ ХАРАКТЕРИСТИКИ · НПЛ-10</a:t>
            </a:r>
          </a:p>
        </p:txBody>
      </p:sp>
      <p:pic>
        <p:nvPicPr>
          <p:cNvPr id="26" name="hdr_p4_hdr" descr="p4_h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1005840"/>
            <a:ext cx="2636520" cy="691896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2057400" y="2514600"/>
            <a:ext cx="1592739" cy="500777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3608991" y="2974229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33172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33172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37744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КОНИКИ / СТІЙКИ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52374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4 шт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57400" y="3063240"/>
            <a:ext cx="764117" cy="1698162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2780369" y="4720254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88036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88036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292608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РАМА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07238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товщина стінки 10 мм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57400" y="3611880"/>
            <a:ext cx="852898" cy="1404027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2869150" y="4974759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42900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42900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47472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ОСВІТЛЕННЯ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62102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габаритне + номерна рамка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57400" y="4160520"/>
            <a:ext cx="2598923" cy="1222349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4615175" y="5341721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97764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4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02336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КОЛЕСА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16966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500/45-22,5 · 4 шт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57400" y="4709160"/>
            <a:ext cx="3042827" cy="55533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059079" y="5223346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52628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2628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57200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СТУПИЦЯ TVZ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471830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8 болтів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2057400" y="4554246"/>
            <a:ext cx="3368358" cy="70355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5384610" y="4513098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5074920"/>
            <a:ext cx="1600200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507492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120640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ПІДСИЛЕНИЙ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66944"/>
            <a:ext cx="14356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балансир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0" y="1600200"/>
            <a:ext cx="1063916" cy="1711113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509168" y="3270165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0" y="1417320"/>
            <a:ext cx="1609344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50024" y="141732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96128" y="1463040"/>
            <a:ext cx="1444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РЕШІТКА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96128" y="1609344"/>
            <a:ext cx="1444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огорожі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5486400" y="4435872"/>
            <a:ext cx="1803757" cy="1187688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249009" y="4394724"/>
            <a:ext cx="82296" cy="82296"/>
          </a:xfrm>
          <a:prstGeom prst="ellipse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00" y="5440680"/>
            <a:ext cx="1609344" cy="36576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50024" y="5440680"/>
            <a:ext cx="45720" cy="36576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96128" y="5486400"/>
            <a:ext cx="1444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Courier New"/>
              </a:rPr>
              <a:t>АУТРИГЕРИ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96128" y="5632704"/>
            <a:ext cx="14447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2530A"/>
                </a:solidFill>
                <a:latin typeface="Arial"/>
              </a:rPr>
              <a:t>V-типу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053328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ПАРАМЕТРИ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281928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281928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Повна конструктивна маса,кг</a:t>
            </a:r>
          </a:p>
        </p:txBody>
      </p:sp>
      <p:sp>
        <p:nvSpPr>
          <p:cNvPr id="78" name="fld_npl_0"/>
          <p:cNvSpPr txBox="1"/>
          <p:nvPr/>
        </p:nvSpPr>
        <p:spPr>
          <a:xfrm>
            <a:off x="3291840" y="6281928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13500,00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554419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Споряджена маса (з маніпулятором) кг</a:t>
            </a:r>
          </a:p>
        </p:txBody>
      </p:sp>
      <p:sp>
        <p:nvSpPr>
          <p:cNvPr id="80" name="fld_npl_1"/>
          <p:cNvSpPr txBox="1"/>
          <p:nvPr/>
        </p:nvSpPr>
        <p:spPr>
          <a:xfrm>
            <a:off x="3291840" y="6554419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3500,00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826910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826910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Вантажопідйомність,кг</a:t>
            </a:r>
          </a:p>
        </p:txBody>
      </p:sp>
      <p:sp>
        <p:nvSpPr>
          <p:cNvPr id="83" name="fld_npl_2"/>
          <p:cNvSpPr txBox="1"/>
          <p:nvPr/>
        </p:nvSpPr>
        <p:spPr>
          <a:xfrm>
            <a:off x="3291840" y="6826910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10000,00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7099402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Довжина сортиментів</a:t>
            </a:r>
          </a:p>
        </p:txBody>
      </p:sp>
      <p:sp>
        <p:nvSpPr>
          <p:cNvPr id="85" name="fld_npl_3"/>
          <p:cNvSpPr txBox="1"/>
          <p:nvPr/>
        </p:nvSpPr>
        <p:spPr>
          <a:xfrm>
            <a:off x="3291840" y="7099402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2-3-4-5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7371893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7371893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Об’єм вантажного простору , м3</a:t>
            </a:r>
          </a:p>
        </p:txBody>
      </p:sp>
      <p:sp>
        <p:nvSpPr>
          <p:cNvPr id="88" name="fld_npl_4"/>
          <p:cNvSpPr txBox="1"/>
          <p:nvPr/>
        </p:nvSpPr>
        <p:spPr>
          <a:xfrm>
            <a:off x="3291840" y="7371893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10,0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7644384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Довжина площі навантаження,мм</a:t>
            </a:r>
          </a:p>
        </p:txBody>
      </p:sp>
      <p:sp>
        <p:nvSpPr>
          <p:cNvPr id="90" name="fld_npl_5"/>
          <p:cNvSpPr txBox="1"/>
          <p:nvPr/>
        </p:nvSpPr>
        <p:spPr>
          <a:xfrm>
            <a:off x="3291840" y="7644384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4500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7916875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7916875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Ширина площі навантаження,мм</a:t>
            </a:r>
          </a:p>
        </p:txBody>
      </p:sp>
      <p:sp>
        <p:nvSpPr>
          <p:cNvPr id="93" name="fld_npl_6"/>
          <p:cNvSpPr txBox="1"/>
          <p:nvPr/>
        </p:nvSpPr>
        <p:spPr>
          <a:xfrm>
            <a:off x="3291840" y="7916875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2140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8189366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Кількість коників/стійок</a:t>
            </a:r>
          </a:p>
        </p:txBody>
      </p:sp>
      <p:sp>
        <p:nvSpPr>
          <p:cNvPr id="95" name="fld_npl_7"/>
          <p:cNvSpPr txBox="1"/>
          <p:nvPr/>
        </p:nvSpPr>
        <p:spPr>
          <a:xfrm>
            <a:off x="3291840" y="8189366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8461858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8461858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Товщина стінки рами</a:t>
            </a:r>
          </a:p>
        </p:txBody>
      </p:sp>
      <p:sp>
        <p:nvSpPr>
          <p:cNvPr id="98" name="fld_npl_8"/>
          <p:cNvSpPr txBox="1"/>
          <p:nvPr/>
        </p:nvSpPr>
        <p:spPr>
          <a:xfrm>
            <a:off x="3291840" y="8461858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10 мм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8734349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Ступиця TVZ</a:t>
            </a:r>
          </a:p>
        </p:txBody>
      </p:sp>
      <p:sp>
        <p:nvSpPr>
          <p:cNvPr id="100" name="fld_npl_9"/>
          <p:cNvSpPr txBox="1"/>
          <p:nvPr/>
        </p:nvSpPr>
        <p:spPr>
          <a:xfrm>
            <a:off x="3291840" y="8734349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8 болтів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9006840"/>
            <a:ext cx="4206240" cy="272491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9006840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Колесо ходове з диском 500/45-22,5</a:t>
            </a:r>
          </a:p>
        </p:txBody>
      </p:sp>
      <p:sp>
        <p:nvSpPr>
          <p:cNvPr id="103" name="fld_npl_10"/>
          <p:cNvSpPr txBox="1"/>
          <p:nvPr/>
        </p:nvSpPr>
        <p:spPr>
          <a:xfrm>
            <a:off x="3291840" y="9006840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 шт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9279331"/>
            <a:ext cx="292608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Гальмівна система</a:t>
            </a:r>
          </a:p>
        </p:txBody>
      </p:sp>
      <p:sp>
        <p:nvSpPr>
          <p:cNvPr id="105" name="fld_npl_11"/>
          <p:cNvSpPr txBox="1"/>
          <p:nvPr/>
        </p:nvSpPr>
        <p:spPr>
          <a:xfrm>
            <a:off x="3291840" y="9279331"/>
            <a:ext cx="1280160" cy="272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пневматична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846320" y="6053328"/>
            <a:ext cx="2252980" cy="3498494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10912" y="619963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У КОМПЛЕКТАЦІЇ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10912" y="6574536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30368" y="6510528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Решітка огорожі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10912" y="6995944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30368" y="6931936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Габаритне освітлення та номерна рамка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10912" y="7417352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30368" y="7353344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Аутригери V-типу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10912" y="7838759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230368" y="7774751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Підсилений балансир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10912" y="8260167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30368" y="8196159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Поворотний причіпний механізм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10912" y="8681575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30368" y="8617567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Автономна гідравлічна система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10912" y="9102983"/>
            <a:ext cx="118872" cy="118872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30368" y="9038975"/>
            <a:ext cx="1750060" cy="4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Arial"/>
              </a:rPr>
              <a:t>Місце оператора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5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65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05</a:t>
            </a:r>
            <a:r>
              <a:rPr sz="700" b="1" spc="150">
                <a:solidFill>
                  <a:srgbClr val="FFFFFF"/>
                </a:solidFill>
                <a:latin typeface="Courier New"/>
              </a:rPr>
              <a:t>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FFFFFF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49808"/>
            <a:ext cx="1005840" cy="3968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2939796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907792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04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КРАН-МАНІПУЛЯТОР BMF 720</a:t>
            </a:r>
          </a:p>
        </p:txBody>
      </p:sp>
      <p:pic>
        <p:nvPicPr>
          <p:cNvPr id="27" name="hdr_p5_hdr" descr="p5_h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82112"/>
            <a:ext cx="2773680" cy="8961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4773168"/>
            <a:ext cx="66421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Максимальний радіус дії цього дуже популярного лісокрана BMF720 становить 7,2 метра, він оснащений триточковим навішуванням, ширококутним шарніром і телескопом, що робить його придатним для напів- та професійного лісового господарства. Те, що робить крани BMF такими популярними, полягає в їх цінних якостях: стильному зовнішньому вигляді, міцному дизайні та функціональності, і BMF720 не є винятком.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70448"/>
            <a:ext cx="66421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Усі навантажувачі BMF мають міцні, ретельно проаналізовані та випробувані поворотні будови та колони (вежі), поверхні з порошковим покриттям для більшої довговічності, легкодоступні точки змащення та надійно захищені гідравлічні лінії та компоненти. Стріли підйомників BMF виготовлені з особливо міцної сталі SSAB Strenx і мають знак якості My Inner Strenx®. Універсальність цього крана можна розширити за допомогою аксесуарів BMF.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784848"/>
            <a:ext cx="1984248" cy="24688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784848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D0E10"/>
                </a:solidFill>
                <a:latin typeface="Courier New"/>
              </a:rPr>
              <a:t>SSAB STRENX · MY INNER STRENX®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6784848"/>
            <a:ext cx="1486814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6784848"/>
            <a:ext cx="148681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ТРИТОЧКОВЕ НАВІШУВАННЯ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74566" y="6784848"/>
            <a:ext cx="802843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74566" y="6784848"/>
            <a:ext cx="8028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ШИРОКИЙ КУТ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0562" y="6784848"/>
            <a:ext cx="616306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0562" y="6784848"/>
            <a:ext cx="61630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ТЕЛЕСКОП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7269480"/>
            <a:ext cx="6642100" cy="237744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57200" y="7269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57200" y="726948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1" name="Connector 40"/>
          <p:cNvCxnSpPr/>
          <p:nvPr/>
        </p:nvCxnSpPr>
        <p:spPr>
          <a:xfrm flipH="1">
            <a:off x="6898132" y="7269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7099300" y="726948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457200" y="964692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457200" y="944575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6898132" y="964692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7099300" y="944575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21792" y="7379208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B9BBBE"/>
                </a:solidFill>
                <a:latin typeface="Courier New"/>
              </a:rPr>
              <a:t>СХЕМА ВИЛЬОТУ  ·  мм</a:t>
            </a:r>
          </a:p>
        </p:txBody>
      </p:sp>
      <p:pic>
        <p:nvPicPr>
          <p:cNvPr id="48" name="dwg_crane" descr="dwg_cr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7712762"/>
            <a:ext cx="5120640" cy="171947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89320" y="7726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>
                <a:solidFill>
                  <a:srgbClr val="F2530A"/>
                </a:solidFill>
                <a:latin typeface="Arial"/>
              </a:rPr>
              <a:t>7,2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822960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B9BBBE"/>
                </a:solidFill>
                <a:latin typeface="Courier New"/>
              </a:rPr>
              <a:t>М · МАКС. ВИЛІТ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8549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"/>
              </a:rPr>
              <a:t>370°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891540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B9BBBE"/>
                </a:solidFill>
                <a:latin typeface="Courier New"/>
              </a:rPr>
              <a:t>ПОВОРОТ СТРІЛИ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5E605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5E605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06</a:t>
            </a:r>
            <a:r>
              <a:rPr sz="700" b="1" spc="150">
                <a:solidFill>
                  <a:srgbClr val="5E605F"/>
                </a:solidFill>
                <a:latin typeface="Courier New"/>
              </a:rPr>
              <a:t>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05 // </a:t>
            </a:r>
            <a:r>
              <a:rPr sz="750" b="1" spc="150">
                <a:solidFill>
                  <a:srgbClr val="5E605F"/>
                </a:solidFill>
                <a:latin typeface="Courier New"/>
              </a:rPr>
              <a:t>ТЕХНІЧНІ ХАРАКТЕРИСТИКИ · BMF 720</a:t>
            </a:r>
          </a:p>
        </p:txBody>
      </p:sp>
      <p:pic>
        <p:nvPicPr>
          <p:cNvPr id="25" name="hdr_p6_hdr" descr="p6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4443984" cy="77724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7,2</a:t>
            </a:r>
            <a:r>
              <a:rPr sz="924" b="1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МАКСИМАЛЬНИЙ ВИЛІТ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17725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7725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60</a:t>
            </a:r>
            <a:r>
              <a:rPr sz="924" b="1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7725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ПІДЙОМНИЙ МОМЕНТ, БРУТТО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78250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8250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370</a:t>
            </a:r>
            <a:r>
              <a:rPr sz="924" b="1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8250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ПОВОРОТ СТРІЛИ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38775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8775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200</a:t>
            </a:r>
            <a:r>
              <a:rPr sz="924" b="1">
                <a:solidFill>
                  <a:srgbClr val="F2530A"/>
                </a:solidFill>
                <a:latin typeface="Arial"/>
              </a:rPr>
              <a:t>  бар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8775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РОБОЧИЙ ТИСК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17520"/>
            <a:ext cx="66421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1272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5E605F"/>
                </a:solidFill>
                <a:latin typeface="Courier New"/>
              </a:rPr>
              <a:t>ВАНТАЖОПІДЙОМНІСТЬ ЗА ВИЛЬОТОМ, кг  ·  без грейфера і ротатора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727448"/>
            <a:ext cx="5956300" cy="0"/>
          </a:xfrm>
          <a:prstGeom prst="line">
            <a:avLst/>
          </a:prstGeom>
          <a:ln w="12700">
            <a:solidFill>
              <a:srgbClr val="0D0E10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822960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40080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0 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50224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467344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1 м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477488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2294608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2 м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04752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3121872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3 м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32016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3949136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4 м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959279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4776399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5 м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786543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603663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6 м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13807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430927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7 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75984" y="3584448"/>
            <a:ext cx="512064" cy="114300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00496" y="32552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D0E10"/>
                </a:solidFill>
                <a:latin typeface="Arial"/>
              </a:rPr>
              <a:t>1100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2960" y="3584448"/>
            <a:ext cx="3053024" cy="0"/>
          </a:xfrm>
          <a:prstGeom prst="line">
            <a:avLst/>
          </a:prstGeom>
          <a:ln w="6350">
            <a:solidFill>
              <a:srgbClr val="8B8C88"/>
            </a:solidFill>
            <a:prstDash val="lgDash"/>
          </a:ln>
        </p:spPr>
      </p:cxnSp>
      <p:sp>
        <p:nvSpPr>
          <p:cNvPr id="60" name="Rectangle 59"/>
          <p:cNvSpPr/>
          <p:nvPr/>
        </p:nvSpPr>
        <p:spPr>
          <a:xfrm>
            <a:off x="6523228" y="4124775"/>
            <a:ext cx="512064" cy="602673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47740" y="37955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D0E10"/>
                </a:solidFill>
                <a:latin typeface="Arial"/>
              </a:rPr>
              <a:t>580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2960" y="4124775"/>
            <a:ext cx="5700268" cy="0"/>
          </a:xfrm>
          <a:prstGeom prst="line">
            <a:avLst/>
          </a:prstGeom>
          <a:ln w="6350">
            <a:solidFill>
              <a:srgbClr val="8B8C88"/>
            </a:solidFill>
            <a:prstDash val="lgDash"/>
          </a:ln>
        </p:spPr>
      </p:cxnSp>
      <p:sp>
        <p:nvSpPr>
          <p:cNvPr id="63" name="Rectangle 62"/>
          <p:cNvSpPr/>
          <p:nvPr/>
        </p:nvSpPr>
        <p:spPr>
          <a:xfrm>
            <a:off x="457200" y="5230368"/>
            <a:ext cx="6642100" cy="45720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230368"/>
            <a:ext cx="54864" cy="45720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2303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spc="120">
                <a:solidFill>
                  <a:srgbClr val="F2530A"/>
                </a:solidFill>
                <a:latin typeface="Courier New"/>
              </a:rPr>
              <a:t>У КОМПЛЕКТІ ЗАВЖДИ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1720" y="5230368"/>
            <a:ext cx="47218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РОТАТОР 4 т</a:t>
            </a:r>
            <a:r>
              <a:rPr sz="1200" b="1">
                <a:solidFill>
                  <a:srgbClr val="F2530A"/>
                </a:solidFill>
                <a:latin typeface="Arial"/>
              </a:rPr>
              <a:t>   +   </a:t>
            </a:r>
            <a:r>
              <a:rPr sz="1200" b="1">
                <a:solidFill>
                  <a:srgbClr val="FFFFFF"/>
                </a:solidFill>
                <a:latin typeface="Arial"/>
              </a:rPr>
              <a:t>ГРЕЙФЕР 0,24 м²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870448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5870448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Максимальний виліт, м</a:t>
            </a:r>
          </a:p>
        </p:txBody>
      </p:sp>
      <p:sp>
        <p:nvSpPr>
          <p:cNvPr id="69" name="fld_bmf_0"/>
          <p:cNvSpPr txBox="1"/>
          <p:nvPr/>
        </p:nvSpPr>
        <p:spPr>
          <a:xfrm>
            <a:off x="5486400" y="5870448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7.2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119165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Підйомний момент, кНм, брутто</a:t>
            </a:r>
          </a:p>
        </p:txBody>
      </p:sp>
      <p:sp>
        <p:nvSpPr>
          <p:cNvPr id="71" name="fld_bmf_1"/>
          <p:cNvSpPr txBox="1"/>
          <p:nvPr/>
        </p:nvSpPr>
        <p:spPr>
          <a:xfrm>
            <a:off x="5486400" y="6119165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60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6367882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636788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Вантажопідйомність на 4 м без грейфера і ротатора, кг</a:t>
            </a:r>
          </a:p>
        </p:txBody>
      </p:sp>
      <p:sp>
        <p:nvSpPr>
          <p:cNvPr id="74" name="fld_bmf_2"/>
          <p:cNvSpPr txBox="1"/>
          <p:nvPr/>
        </p:nvSpPr>
        <p:spPr>
          <a:xfrm>
            <a:off x="5486400" y="636788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1100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6616598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Підйомна сила повного вильоту без грейфера і ротатора, кг</a:t>
            </a:r>
          </a:p>
        </p:txBody>
      </p:sp>
      <p:sp>
        <p:nvSpPr>
          <p:cNvPr id="76" name="fld_bmf_3"/>
          <p:cNvSpPr txBox="1"/>
          <p:nvPr/>
        </p:nvSpPr>
        <p:spPr>
          <a:xfrm>
            <a:off x="5486400" y="6616598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580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865315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6865315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Захват, м2</a:t>
            </a:r>
          </a:p>
        </p:txBody>
      </p:sp>
      <p:sp>
        <p:nvSpPr>
          <p:cNvPr id="79" name="fld_bmf_4"/>
          <p:cNvSpPr txBox="1"/>
          <p:nvPr/>
        </p:nvSpPr>
        <p:spPr>
          <a:xfrm>
            <a:off x="5486400" y="6865315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0.24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711403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Ротатор</a:t>
            </a:r>
          </a:p>
        </p:txBody>
      </p:sp>
      <p:sp>
        <p:nvSpPr>
          <p:cNvPr id="81" name="fld_bmf_5"/>
          <p:cNvSpPr txBox="1"/>
          <p:nvPr/>
        </p:nvSpPr>
        <p:spPr>
          <a:xfrm>
            <a:off x="5486400" y="711403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7362749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7362749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Гідравлічний клапан, стандарт</a:t>
            </a:r>
          </a:p>
        </p:txBody>
      </p:sp>
      <p:sp>
        <p:nvSpPr>
          <p:cNvPr id="84" name="fld_bmf_6"/>
          <p:cNvSpPr txBox="1"/>
          <p:nvPr/>
        </p:nvSpPr>
        <p:spPr>
          <a:xfrm>
            <a:off x="5486400" y="7362749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6/8XY (55l)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761146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Поворотний момент, кНм</a:t>
            </a:r>
          </a:p>
        </p:txBody>
      </p:sp>
      <p:sp>
        <p:nvSpPr>
          <p:cNvPr id="86" name="fld_bmf_7"/>
          <p:cNvSpPr txBox="1"/>
          <p:nvPr/>
        </p:nvSpPr>
        <p:spPr>
          <a:xfrm>
            <a:off x="5486400" y="761146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7860182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786018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Циліндри поворотні, шт</a:t>
            </a:r>
          </a:p>
        </p:txBody>
      </p:sp>
      <p:sp>
        <p:nvSpPr>
          <p:cNvPr id="89" name="fld_bmf_8"/>
          <p:cNvSpPr txBox="1"/>
          <p:nvPr/>
        </p:nvSpPr>
        <p:spPr>
          <a:xfrm>
            <a:off x="5486400" y="786018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8108899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Поворот стріли, °</a:t>
            </a:r>
          </a:p>
        </p:txBody>
      </p:sp>
      <p:sp>
        <p:nvSpPr>
          <p:cNvPr id="91" name="fld_bmf_9"/>
          <p:cNvSpPr txBox="1"/>
          <p:nvPr/>
        </p:nvSpPr>
        <p:spPr>
          <a:xfrm>
            <a:off x="5486400" y="8108899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370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8357616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928" y="835761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Робочий тиск, бар</a:t>
            </a:r>
          </a:p>
        </p:txBody>
      </p:sp>
      <p:sp>
        <p:nvSpPr>
          <p:cNvPr id="94" name="fld_bmf_10"/>
          <p:cNvSpPr txBox="1"/>
          <p:nvPr/>
        </p:nvSpPr>
        <p:spPr>
          <a:xfrm>
            <a:off x="5486400" y="835761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200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8606333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Продуктивність гідронасоса, л/хв</a:t>
            </a:r>
          </a:p>
        </p:txBody>
      </p:sp>
      <p:sp>
        <p:nvSpPr>
          <p:cNvPr id="96" name="fld_bmf_11"/>
          <p:cNvSpPr txBox="1"/>
          <p:nvPr/>
        </p:nvSpPr>
        <p:spPr>
          <a:xfrm>
            <a:off x="5486400" y="8606333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30-60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8855050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6928" y="8855050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Широкий кут</a:t>
            </a:r>
          </a:p>
        </p:txBody>
      </p:sp>
      <p:sp>
        <p:nvSpPr>
          <p:cNvPr id="99" name="fld_bmf_12"/>
          <p:cNvSpPr txBox="1"/>
          <p:nvPr/>
        </p:nvSpPr>
        <p:spPr>
          <a:xfrm>
            <a:off x="5486400" y="8855050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+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910376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Телескоп</a:t>
            </a:r>
          </a:p>
        </p:txBody>
      </p:sp>
      <p:sp>
        <p:nvSpPr>
          <p:cNvPr id="101" name="fld_bmf_13"/>
          <p:cNvSpPr txBox="1"/>
          <p:nvPr/>
        </p:nvSpPr>
        <p:spPr>
          <a:xfrm>
            <a:off x="5486400" y="910376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+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9352483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" y="9352483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Загальна вага без ноги, грейфера, ротатора, кг</a:t>
            </a:r>
          </a:p>
        </p:txBody>
      </p:sp>
      <p:sp>
        <p:nvSpPr>
          <p:cNvPr id="104" name="fld_bmf_14"/>
          <p:cNvSpPr txBox="1"/>
          <p:nvPr/>
        </p:nvSpPr>
        <p:spPr>
          <a:xfrm>
            <a:off x="5486400" y="9352483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710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7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65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07</a:t>
            </a:r>
            <a:r>
              <a:rPr sz="700" b="1" spc="150">
                <a:solidFill>
                  <a:srgbClr val="FFFFFF"/>
                </a:solidFill>
                <a:latin typeface="Courier New"/>
              </a:rPr>
              <a:t>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363724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33172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06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ВАРТІСТЬ КОМПЛЕКТУ</a:t>
            </a:r>
          </a:p>
        </p:txBody>
      </p:sp>
      <p:pic>
        <p:nvPicPr>
          <p:cNvPr id="26" name="hdr_p7_hdr" descr="p7_h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606040"/>
            <a:ext cx="4980432" cy="819912"/>
          </a:xfrm>
          <a:prstGeom prst="rect">
            <a:avLst/>
          </a:prstGeom>
        </p:spPr>
      </p:pic>
      <p:pic>
        <p:nvPicPr>
          <p:cNvPr id="27" name="receipt" descr="rece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23360"/>
            <a:ext cx="6459220" cy="57607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5840" y="4434840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0D0E10"/>
                </a:solidFill>
                <a:latin typeface="Courier New"/>
              </a:rPr>
              <a:t>ЗАГАЛЬНА ВАРТІСТЬ КОМПЛЕКТУ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34840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00">
                <a:solidFill>
                  <a:srgbClr val="5E605F"/>
                </a:solidFill>
                <a:latin typeface="Courier New"/>
              </a:rPr>
              <a:t>КП · 29.09.2026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4727448"/>
            <a:ext cx="5544820" cy="0"/>
          </a:xfrm>
          <a:prstGeom prst="line">
            <a:avLst/>
          </a:prstGeom>
          <a:ln w="9525">
            <a:solidFill>
              <a:srgbClr val="0D0E10"/>
            </a:solidFill>
            <a:prstDash val="lgDash"/>
          </a:ln>
        </p:spPr>
      </p:cxnSp>
      <p:sp>
        <p:nvSpPr>
          <p:cNvPr id="31" name="TextBox 30"/>
          <p:cNvSpPr txBox="1"/>
          <p:nvPr/>
        </p:nvSpPr>
        <p:spPr>
          <a:xfrm>
            <a:off x="1005840" y="48920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87375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Напівпричіп-лісовоз НПЛ-10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0235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10 т · 4 коники · V-аутригери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7660" y="4892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406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42239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Гідравлічний кран-маніпулятор BMF 720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65099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з ротатором 4 т і грейфером 0,24 м²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7660" y="54406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89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97103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Автономна гідравлічна система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619963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у складі напівпричепа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7660" y="598932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51967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Місце оператора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674827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у складі напівпричепа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7660" y="653796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05840" y="7104888"/>
            <a:ext cx="5544820" cy="0"/>
          </a:xfrm>
          <a:prstGeom prst="line">
            <a:avLst/>
          </a:prstGeom>
          <a:ln w="9525">
            <a:solidFill>
              <a:srgbClr val="0D0E10"/>
            </a:solidFill>
            <a:prstDash val="lgDash"/>
          </a:ln>
        </p:spPr>
      </p:cxnSp>
      <p:sp>
        <p:nvSpPr>
          <p:cNvPr id="48" name="TextBox 47"/>
          <p:cNvSpPr txBox="1"/>
          <p:nvPr/>
        </p:nvSpPr>
        <p:spPr>
          <a:xfrm>
            <a:off x="1005840" y="7251192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5E605F"/>
                </a:solidFill>
                <a:latin typeface="Courier New"/>
              </a:rPr>
              <a:t>РАЗОМ, З ПДВ</a:t>
            </a:r>
          </a:p>
        </p:txBody>
      </p:sp>
      <p:pic>
        <p:nvPicPr>
          <p:cNvPr id="49" name="fld_price" descr="p7_pr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7498080"/>
            <a:ext cx="3563112" cy="53949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660392" y="7498080"/>
            <a:ext cx="548640" cy="5394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F2530A"/>
                </a:solidFill>
                <a:latin typeface="Arial"/>
              </a:rPr>
              <a:t>₴</a:t>
            </a:r>
          </a:p>
        </p:txBody>
      </p:sp>
      <p:sp>
        <p:nvSpPr>
          <p:cNvPr id="51" name="fld_price_note"/>
          <p:cNvSpPr txBox="1"/>
          <p:nvPr/>
        </p:nvSpPr>
        <p:spPr>
          <a:xfrm>
            <a:off x="1005840" y="8129016"/>
            <a:ext cx="55448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Ціна вказана із урахуванням ПДВ.</a:t>
            </a:r>
          </a:p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Станом на 29.09.2026 р.</a:t>
            </a:r>
          </a:p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Вартість обладнання прив’язана до курсу купівлі Євро та буде переглянута у разі зростання курсу</a:t>
            </a:r>
          </a:p>
        </p:txBody>
      </p:sp>
      <p:pic>
        <p:nvPicPr>
          <p:cNvPr id="52" name="Picture 51" descr="barcode_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8988552"/>
            <a:ext cx="2011680" cy="2560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07460" y="90251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0D0E10"/>
                </a:solidFill>
                <a:latin typeface="Courier New"/>
              </a:rPr>
              <a:t>НПЛ-10 + BMF 720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5E605F"/>
                </a:solidFill>
                <a:latin typeface="Courier New"/>
              </a:rPr>
              <a:t>НПЛ-10 × BMF 720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5E605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08</a:t>
            </a:r>
            <a:r>
              <a:rPr sz="700" b="1" spc="150">
                <a:solidFill>
                  <a:srgbClr val="5E605F"/>
                </a:solidFill>
                <a:latin typeface="Courier New"/>
              </a:rPr>
              <a:t>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07 // </a:t>
            </a:r>
            <a:r>
              <a:rPr sz="750" b="1" spc="150">
                <a:solidFill>
                  <a:srgbClr val="5E605F"/>
                </a:solidFill>
                <a:latin typeface="Courier New"/>
              </a:rPr>
              <a:t>УМОВИ СПІВПРАЦІ</a:t>
            </a:r>
          </a:p>
        </p:txBody>
      </p:sp>
      <p:pic>
        <p:nvPicPr>
          <p:cNvPr id="25" name="hdr_p8_hdr" descr="p8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2855976" cy="749808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704088" y="2606040"/>
            <a:ext cx="0" cy="5257800"/>
          </a:xfrm>
          <a:prstGeom prst="line">
            <a:avLst/>
          </a:prstGeom>
          <a:ln w="19050">
            <a:solidFill>
              <a:srgbClr val="C9C5BB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457200" y="23317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317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313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ДОКУМЕНТАЦІЯ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6334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Укладається договір, у якому зазначаються всі ключові аспекти угоди, разом із товаром надається повний пакет документів для реєстрації НПЛ-10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493776" cy="49377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685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ТЕРМІНИ ВИГОТОВЛЕННЯ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0050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При індивідуальному замовленні - протягом 60 календарних днів з моменту підписання Договору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056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ОПЛАТА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3766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Повна оплата, оплата частинами відповідно до умов договору, кредитні умови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465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ДОСТАВКА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67482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Здійснюється за рахунок покупця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8181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78181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77998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БОНУСИ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81198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При купівлі понад 2-ох одиниць НПЛ-10 гарантовано діє персональна система знижок</a:t>
            </a:r>
          </a:p>
        </p:txBody>
      </p:sp>
      <p:pic>
        <p:nvPicPr>
          <p:cNvPr id="47" name="hdr_p8_60" descr="p8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148840"/>
            <a:ext cx="2331720" cy="1365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54880" y="384048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0D0E10"/>
                </a:solidFill>
                <a:latin typeface="Courier New"/>
              </a:rPr>
              <a:t>КАЛЕНДАРНИХ ДНІВ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E605F"/>
                </a:solidFill>
                <a:latin typeface="Arial"/>
              </a:rPr>
              <a:t>виготовлення при індивідуальному замовленні з моменту підписання Договору</a:t>
            </a:r>
          </a:p>
        </p:txBody>
      </p:sp>
      <p:pic>
        <p:nvPicPr>
          <p:cNvPr id="50" name="Picture 49" descr="p8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800600"/>
            <a:ext cx="2331720" cy="3611880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4754880" y="480060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4754880" y="4800600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6922008" y="480060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086600" y="4800600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4754880" y="841248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6" name="Connector 55"/>
          <p:cNvCxnSpPr/>
          <p:nvPr/>
        </p:nvCxnSpPr>
        <p:spPr>
          <a:xfrm flipV="1">
            <a:off x="4754880" y="824788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>
            <a:off x="6922008" y="841248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7086600" y="824788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4754880" y="8503920"/>
            <a:ext cx="2331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МІСЦЕ ОПЕРАТОРА · BMF 720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9253728"/>
            <a:ext cx="6642100" cy="384048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9253728"/>
            <a:ext cx="63677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Усі умови узгоджуємо індивідуально з клієнтом до підписання договору — можуть відрізнятись від вищезазначених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B9BBBE"/>
                </a:solidFill>
                <a:latin typeface="Courier New"/>
              </a:rPr>
              <a:t>НПЛ-10 × BMF 720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B9BBBE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09</a:t>
            </a:r>
            <a:r>
              <a:rPr sz="700" b="1" spc="150">
                <a:solidFill>
                  <a:srgbClr val="B9BBBE"/>
                </a:solidFill>
                <a:latin typeface="Courier New"/>
              </a:rPr>
              <a:t>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08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НАШІ ПЕРЕВАГИ</a:t>
            </a:r>
          </a:p>
        </p:txBody>
      </p:sp>
      <p:pic>
        <p:nvPicPr>
          <p:cNvPr id="25" name="hdr_p9_hdr" descr="p9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2758440" cy="691896"/>
          </a:xfrm>
          <a:prstGeom prst="rect">
            <a:avLst/>
          </a:prstGeom>
        </p:spPr>
      </p:pic>
      <p:pic>
        <p:nvPicPr>
          <p:cNvPr id="26" name="hdr_p9_100" descr="p9_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331720"/>
            <a:ext cx="3017520" cy="987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3657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понад 100 одиниць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виготовлених НПЛ-10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1596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ВЛАСНЕ ВИРОБНИЦТВО · м. САРНИ</a:t>
            </a:r>
          </a:p>
        </p:txBody>
      </p:sp>
      <p:pic>
        <p:nvPicPr>
          <p:cNvPr id="29" name="collage" descr="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2240280"/>
            <a:ext cx="3300984" cy="2642616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3721608" y="216712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3721608" y="216712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7004304" y="216712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7168896" y="216712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3721608" y="495604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3721608" y="4791456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6" name="Connector 35"/>
          <p:cNvCxnSpPr/>
          <p:nvPr/>
        </p:nvCxnSpPr>
        <p:spPr>
          <a:xfrm flipH="1">
            <a:off x="7004304" y="495604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7168896" y="4791456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794760" y="5010912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20">
                <a:solidFill>
                  <a:srgbClr val="B9BBBE"/>
                </a:solidFill>
                <a:latin typeface="Courier New"/>
              </a:rPr>
              <a:t>ПРИКЛАДИ ВИРОБІВ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9496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Досвід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1713" y="539496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48017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8017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Сертифікати якості виробництва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46227" y="5394960"/>
            <a:ext cx="2153073" cy="132588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92531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0D0E10"/>
                </a:solidFill>
                <a:latin typeface="Courier New"/>
              </a:rPr>
              <a:t>03</a:t>
            </a:r>
          </a:p>
        </p:txBody>
      </p:sp>
      <p:pic>
        <p:nvPicPr>
          <p:cNvPr id="47" name="Picture 46" descr="logo_1A1A1A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068" y="5504688"/>
            <a:ext cx="566928" cy="2240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92531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D0E10"/>
                </a:solidFill>
                <a:latin typeface="Arial"/>
              </a:rPr>
              <a:t>Офіційні дистриб'ютори BMF в Україні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Індивідуальний підхід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01713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8017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48017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Якісні матеріали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46227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2531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2531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Контроль якості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Бонуси постійним клієнтам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01713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48017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8017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Надійність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46227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92531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531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Виготовлення під замовлення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  <a:ln>
            <a:solidFill>
              <a:srgbClr val="0D0E10"/>
            </a:solidFill>
          </a:ln>
        </p:spPr>
      </p:pic>
      <p:sp>
        <p:nvSpPr>
          <p:cNvPr id="3" name="cta_orange"/>
          <p:cNvSpPr/>
          <p:nvPr/>
        </p:nvSpPr>
        <p:spPr>
          <a:xfrm>
            <a:off x="0" y="0"/>
            <a:ext cx="7556500" cy="443484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0D0E10"/>
                </a:solidFill>
                <a:latin typeface="Courier New"/>
              </a:rPr>
              <a:t>НПЛ-10 × BMF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0D0E10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0D0E10"/>
                </a:solidFill>
                <a:latin typeface="Courier New"/>
              </a:rPr>
              <a:t>10</a:t>
            </a:r>
            <a:r>
              <a:rPr sz="700" b="1" spc="150">
                <a:solidFill>
                  <a:srgbClr val="0D0E10"/>
                </a:solidFill>
                <a:latin typeface="Courier New"/>
              </a:rPr>
              <a:t>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0D0E10"/>
                </a:solidFill>
                <a:latin typeface="Courier New"/>
              </a:rPr>
              <a:t>09 // </a:t>
            </a:r>
            <a:r>
              <a:rPr sz="750" b="1" spc="150">
                <a:solidFill>
                  <a:srgbClr val="0D0E10"/>
                </a:solidFill>
                <a:latin typeface="Courier New"/>
              </a:rPr>
              <a:t>ДОДАТКОВІ ДЕТАЛІ</a:t>
            </a:r>
          </a:p>
        </p:txBody>
      </p:sp>
      <p:pic>
        <p:nvPicPr>
          <p:cNvPr id="26" name="hdr_p10_hdr" descr="p10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24128"/>
            <a:ext cx="4995672" cy="13319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3154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D0E10"/>
                </a:solidFill>
                <a:latin typeface="Arial"/>
              </a:rPr>
              <a:t>Ми готові відповісти на всі ваші запитання та обговорити деталі співпраці. Очікуємо на вашу відповідь для узгодження замовлення.</a:t>
            </a:r>
          </a:p>
        </p:txBody>
      </p:sp>
      <p:pic>
        <p:nvPicPr>
          <p:cNvPr id="28" name="Picture 27" descr="logo_1A1A1A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460" y="3200400"/>
            <a:ext cx="1005840" cy="3968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79060" y="3657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0D0E10"/>
                </a:solidFill>
                <a:latin typeface="Courier New"/>
              </a:rPr>
              <a:t>ОФІЦІЙНІ ДИСТРИБ'ЮТОРИ</a:t>
            </a:r>
          </a:p>
          <a:p>
            <a:pPr algn="r"/>
            <a:r>
              <a:rPr sz="650" b="1" spc="100">
                <a:solidFill>
                  <a:srgbClr val="0D0E10"/>
                </a:solidFill>
                <a:latin typeface="Courier New"/>
              </a:rPr>
              <a:t>BMF В УКРАЇНІ</a:t>
            </a:r>
          </a:p>
        </p:txBody>
      </p:sp>
      <p:pic>
        <p:nvPicPr>
          <p:cNvPr id="30" name="Picture 29" descr="hz_c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34840"/>
            <a:ext cx="7556500" cy="182880"/>
          </a:xfrm>
          <a:prstGeom prst="rect">
            <a:avLst/>
          </a:prstGeom>
        </p:spPr>
      </p:pic>
      <p:pic>
        <p:nvPicPr>
          <p:cNvPr id="31" name="cta_cutout" descr="cutout_np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965" y="4709160"/>
            <a:ext cx="3391495" cy="3429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57200" y="502920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ТЕЛЕФОН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303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(+380) 673630629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(+380) 681775997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9788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9788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САЙТ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990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https://www.bmf.ee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https://bmf.rv.ua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76656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76656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EMAIL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9677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debeliy78@ukr.net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763524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763524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АДРЕСА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78364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вул. Заводська 5, м. Сарни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Рівненська обл., Україна, 34500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8595360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457200" y="8796528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20">
                <a:solidFill>
                  <a:srgbClr val="F2530A"/>
                </a:solidFill>
                <a:latin typeface="Courier New"/>
              </a:rPr>
              <a:t>СКАНУЙТЕ — І МИ НА ЗВʼЯЗКУ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9006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Наш сайт, TikTok та Instagram.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qr_сайт" descr="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8778240"/>
            <a:ext cx="621792" cy="6217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2452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САЙТ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48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qr_tiktok" descr="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208" y="8778240"/>
            <a:ext cx="621792" cy="6217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4748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TIKTOK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7044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qr_instagram" descr="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6168" y="8778240"/>
            <a:ext cx="621792" cy="6217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7044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INSTAGRAM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9710928"/>
            <a:ext cx="66421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8B8C88"/>
                </a:solidFill>
                <a:latin typeface="Courier New"/>
              </a:rPr>
              <a:t>ДАНА КОМЕРЦІЙНА ПРОПОЗИЦІЯ МАЄ ВИКЛЮЧНО ІНФОРМАЦІЙНИЙ ХАРАКТЕР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9875520"/>
            <a:ext cx="66421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8B8C88"/>
                </a:solidFill>
                <a:latin typeface="Courier New"/>
              </a:rPr>
              <a:t>ВИРОБНИК: ФОП ДЕБЕЛИЙ ВОЛОДИМИР МИКОЛАЙОВИЧ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