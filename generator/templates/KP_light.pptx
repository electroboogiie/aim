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445" y="-3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52" name="hero_crane" descr="L1_cra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02920" y="749808"/>
            <a:ext cx="7863840" cy="4470974"/>
          </a:xfrm>
          <a:prstGeom prst="rect">
            <a:avLst/>
          </a:prstGeom>
        </p:spPr>
      </p:pic>
      <p:pic>
        <p:nvPicPr>
          <p:cNvPr id="51" name="bmf_wordmark" descr="v2_bmf_wo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873752"/>
            <a:ext cx="2395728" cy="945060"/>
          </a:xfrm>
          <a:prstGeom prst="rect">
            <a:avLst/>
          </a:prstGeom>
        </p:spPr>
      </p:pic>
      <p:pic>
        <p:nvPicPr>
          <p:cNvPr id="19" name="model_outline" descr="p1_7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4224528"/>
            <a:ext cx="3753319" cy="1627632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"/>
            <a:ext cx="741761" cy="292608"/>
          </a:xfrm>
          <a:prstGeom prst="rect">
            <a:avLst/>
          </a:prstGeom>
        </p:spPr>
      </p:pic>
      <p:sp>
        <p:nvSpPr>
          <p:cNvPr id="4" name="fld_kp_cover"/>
          <p:cNvSpPr txBox="1"/>
          <p:nvPr/>
        </p:nvSpPr>
        <p:spPr>
          <a:xfrm>
            <a:off x="3291840" y="365760"/>
            <a:ext cx="385876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1E2228"/>
                </a:solidFill>
                <a:latin typeface="Arial"/>
              </a:rPr>
              <a:t>КОМЕРЦІЙНА ПРОПОЗИЦІЯ</a:t>
            </a:r>
          </a:p>
          <a:p>
            <a:pPr algn="r"/>
            <a:r>
              <a:rPr sz="750" b="1" spc="200">
                <a:solidFill>
                  <a:srgbClr val="1E2228"/>
                </a:solidFill>
                <a:latin typeface="Arial"/>
              </a:rPr>
              <a:t>№ 0001  ·  06.10.2026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005840"/>
            <a:ext cx="1783080" cy="246888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1005840"/>
            <a:ext cx="1783080" cy="2468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 spc="180">
                <a:solidFill>
                  <a:srgbClr val="1E2228"/>
                </a:solidFill>
                <a:latin typeface="Arial"/>
              </a:rPr>
              <a:t>FORESTRY CRANE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812280"/>
            <a:ext cx="67665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3600" b="1" spc="-80">
                <a:solidFill>
                  <a:srgbClr val="1E2228"/>
                </a:solidFill>
                <a:latin typeface="Arial"/>
              </a:rPr>
              <a:t>БІЛЬШЕ КУБІВ.</a:t>
            </a:r>
          </a:p>
          <a:p>
            <a:pPr algn="l">
              <a:lnSpc>
                <a:spcPct val="90000"/>
              </a:lnSpc>
            </a:pPr>
            <a:r>
              <a:rPr sz="3600" b="1" spc="-80">
                <a:solidFill>
                  <a:srgbClr val="F2530A"/>
                </a:solidFill>
                <a:latin typeface="Arial"/>
              </a:rPr>
              <a:t>МЕНШЕ ЗУПИНОК.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8001000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26B"/>
                </a:solidFill>
                <a:latin typeface="Arial"/>
              </a:rPr>
              <a:t>Гідравлічний кран-маніпулятор BMF 720 з ротатором і захватом — повний комплект з платформою, аутригерами, баком і місцем оператора.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8686800"/>
            <a:ext cx="161620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8686800"/>
            <a:ext cx="36576" cy="86868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7784" y="8778240"/>
            <a:ext cx="1433322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60">
                <a:solidFill>
                  <a:srgbClr val="5B626B"/>
                </a:solidFill>
                <a:latin typeface="Arial"/>
              </a:rPr>
              <a:t>01 / ВИЛІТ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" y="9006840"/>
            <a:ext cx="143332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500" b="1" spc="-30">
                <a:solidFill>
                  <a:srgbClr val="1E2228"/>
                </a:solidFill>
                <a:latin typeface="Arial"/>
              </a:rPr>
              <a:t>7,2</a:t>
            </a:r>
            <a:r>
              <a:rPr sz="1000" b="1" spc="-30">
                <a:solidFill>
                  <a:srgbClr val="F2530A"/>
                </a:solidFill>
                <a:latin typeface="Arial"/>
              </a:rPr>
              <a:t>  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19122" y="8686800"/>
            <a:ext cx="161620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119122" y="8686800"/>
            <a:ext cx="36576" cy="86868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65426" y="8778240"/>
            <a:ext cx="1433322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60">
                <a:solidFill>
                  <a:srgbClr val="5B626B"/>
                </a:solidFill>
                <a:latin typeface="Arial"/>
              </a:rPr>
              <a:t>02 / МОМЕНТ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65426" y="9006840"/>
            <a:ext cx="143332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500" b="1" spc="-30">
                <a:solidFill>
                  <a:srgbClr val="1E2228"/>
                </a:solidFill>
                <a:latin typeface="Arial"/>
              </a:rPr>
              <a:t>60</a:t>
            </a:r>
            <a:r>
              <a:rPr sz="1000" b="1" spc="-30">
                <a:solidFill>
                  <a:srgbClr val="F2530A"/>
                </a:solidFill>
                <a:latin typeface="Arial"/>
              </a:rPr>
              <a:t>  кНм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26764" y="8686800"/>
            <a:ext cx="161620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26764" y="8686800"/>
            <a:ext cx="36576" cy="86868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73068" y="8778240"/>
            <a:ext cx="1433322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60">
                <a:solidFill>
                  <a:srgbClr val="5B626B"/>
                </a:solidFill>
                <a:latin typeface="Arial"/>
              </a:rPr>
              <a:t>03 / НА 4 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3068" y="9006840"/>
            <a:ext cx="143332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500" b="1" spc="-30">
                <a:solidFill>
                  <a:srgbClr val="1E2228"/>
                </a:solidFill>
                <a:latin typeface="Arial"/>
              </a:rPr>
              <a:t>1100</a:t>
            </a:r>
            <a:r>
              <a:rPr sz="1000" b="1" spc="-30">
                <a:solidFill>
                  <a:srgbClr val="F2530A"/>
                </a:solidFill>
                <a:latin typeface="Arial"/>
              </a:rPr>
              <a:t>  кг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4406" y="8686800"/>
            <a:ext cx="161620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534406" y="8686800"/>
            <a:ext cx="36576" cy="86868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80710" y="8778240"/>
            <a:ext cx="1433322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60">
                <a:solidFill>
                  <a:srgbClr val="5B626B"/>
                </a:solidFill>
                <a:latin typeface="Arial"/>
              </a:rPr>
              <a:t>04 / ПОВОРОТ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80710" y="9006840"/>
            <a:ext cx="143332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500" b="1" spc="-30">
                <a:solidFill>
                  <a:srgbClr val="1E2228"/>
                </a:solidFill>
                <a:latin typeface="Arial"/>
              </a:rPr>
              <a:t>370</a:t>
            </a:r>
            <a:r>
              <a:rPr sz="1000" b="1" spc="-30">
                <a:solidFill>
                  <a:srgbClr val="F2530A"/>
                </a:solidFill>
                <a:latin typeface="Arial"/>
              </a:rPr>
              <a:t>  °</a:t>
            </a:r>
          </a:p>
        </p:txBody>
      </p:sp>
      <p:sp>
        <p:nvSpPr>
          <p:cNvPr id="39" name="fld_client"/>
          <p:cNvSpPr txBox="1"/>
          <p:nvPr/>
        </p:nvSpPr>
        <p:spPr>
          <a:xfrm>
            <a:off x="411480" y="9829800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8E959E"/>
                </a:solidFill>
                <a:latin typeface="Arial"/>
              </a:rPr>
              <a:t>ПІДГОТОВЛЕНО ДЛЯ</a:t>
            </a:r>
          </a:p>
          <a:p>
            <a:pPr algn="l"/>
            <a:r>
              <a:rPr sz="1300" b="1">
                <a:solidFill>
                  <a:srgbClr val="1E2228"/>
                </a:solidFill>
                <a:latin typeface="Arial"/>
              </a:rPr>
              <a:t>Назва замовника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82880" y="182880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82880" y="182880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7104888" y="182880"/>
            <a:ext cx="274320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379208" y="182880"/>
            <a:ext cx="0" cy="27432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82880" y="10506456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82880" y="10232136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7104888" y="10506456"/>
            <a:ext cx="274320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379208" y="10232136"/>
            <a:ext cx="0" cy="27432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286000" y="1005840"/>
            <a:ext cx="19659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spc="180">
                <a:solidFill>
                  <a:srgbClr val="1E2228"/>
                </a:solidFill>
                <a:latin typeface="Arial"/>
              </a:rPr>
              <a:t>ВИРОБНИЦТВО · ЕСТОНІЯ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286000" y="1005840"/>
            <a:ext cx="1965960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33872" y="635508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200">
                <a:solidFill>
                  <a:srgbClr val="FFFFFF"/>
                </a:solidFill>
                <a:latin typeface="Arial"/>
              </a:rPr>
              <a:t>ПАРАМЕТРИ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33872" y="6675120"/>
            <a:ext cx="86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FFE3D3"/>
                </a:solidFill>
                <a:latin typeface="Arial"/>
              </a:rPr>
              <a:t>тиск, бар</a:t>
            </a:r>
          </a:p>
        </p:txBody>
      </p:sp>
      <p:sp>
        <p:nvSpPr>
          <p:cNvPr id="57" name="fld_cover_spec_1"/>
          <p:cNvSpPr txBox="1"/>
          <p:nvPr/>
        </p:nvSpPr>
        <p:spPr>
          <a:xfrm>
            <a:off x="6537960" y="6675120"/>
            <a:ext cx="777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200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833872" y="7059168"/>
            <a:ext cx="1481328" cy="0"/>
          </a:xfrm>
          <a:prstGeom prst="line">
            <a:avLst/>
          </a:prstGeom>
          <a:ln w="6350">
            <a:solidFill>
              <a:srgbClr val="FFB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833872" y="7104888"/>
            <a:ext cx="86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FFE3D3"/>
                </a:solidFill>
                <a:latin typeface="Arial"/>
              </a:rPr>
              <a:t>насос, л/хв</a:t>
            </a:r>
          </a:p>
        </p:txBody>
      </p:sp>
      <p:sp>
        <p:nvSpPr>
          <p:cNvPr id="60" name="fld_cover_spec_2"/>
          <p:cNvSpPr txBox="1"/>
          <p:nvPr/>
        </p:nvSpPr>
        <p:spPr>
          <a:xfrm>
            <a:off x="6537960" y="7104888"/>
            <a:ext cx="777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30–60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833872" y="7488936"/>
            <a:ext cx="1481328" cy="0"/>
          </a:xfrm>
          <a:prstGeom prst="line">
            <a:avLst/>
          </a:prstGeom>
          <a:ln w="6350">
            <a:solidFill>
              <a:srgbClr val="FFB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833872" y="7534656"/>
            <a:ext cx="86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FFE3D3"/>
                </a:solidFill>
                <a:latin typeface="Arial"/>
              </a:rPr>
              <a:t>пов. момент, кНм</a:t>
            </a:r>
          </a:p>
        </p:txBody>
      </p:sp>
      <p:sp>
        <p:nvSpPr>
          <p:cNvPr id="63" name="fld_cover_spec_3"/>
          <p:cNvSpPr txBox="1"/>
          <p:nvPr/>
        </p:nvSpPr>
        <p:spPr>
          <a:xfrm>
            <a:off x="6537960" y="7534656"/>
            <a:ext cx="777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833872" y="7918704"/>
            <a:ext cx="1481328" cy="0"/>
          </a:xfrm>
          <a:prstGeom prst="line">
            <a:avLst/>
          </a:prstGeom>
          <a:ln w="6350">
            <a:solidFill>
              <a:srgbClr val="FFB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833872" y="7964424"/>
            <a:ext cx="86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FFE3D3"/>
                </a:solidFill>
                <a:latin typeface="Arial"/>
              </a:rPr>
              <a:t>вага*, кг</a:t>
            </a:r>
          </a:p>
        </p:txBody>
      </p:sp>
      <p:sp>
        <p:nvSpPr>
          <p:cNvPr id="66" name="fld_cover_spec_4"/>
          <p:cNvSpPr txBox="1"/>
          <p:nvPr/>
        </p:nvSpPr>
        <p:spPr>
          <a:xfrm>
            <a:off x="6537960" y="7964424"/>
            <a:ext cx="777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675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833872" y="8348472"/>
            <a:ext cx="1481328" cy="0"/>
          </a:xfrm>
          <a:prstGeom prst="line">
            <a:avLst/>
          </a:prstGeom>
          <a:ln w="6350">
            <a:solidFill>
              <a:srgbClr val="FFB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833872" y="8412480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E3D3"/>
                </a:solidFill>
                <a:latin typeface="Arial"/>
              </a:rPr>
              <a:t>* без опори, захвату, ротатора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8E959E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8E959E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02</a:t>
            </a:r>
            <a:r>
              <a:rPr sz="750" b="1" spc="200">
                <a:solidFill>
                  <a:srgbClr val="8E959E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8E959E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8E959E"/>
                </a:solidFill>
                <a:latin typeface="Arial"/>
              </a:rPr>
              <a:t>СИСТЕМА ЛІСОВОГО КРАНА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01 — МАНІФЕСТ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98448"/>
            <a:ext cx="6739128" cy="1508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2000"/>
              </a:lnSpc>
            </a:pPr>
            <a:r>
              <a:rPr sz="3100" b="1" spc="-50" dirty="0">
                <a:solidFill>
                  <a:srgbClr val="1E2228"/>
                </a:solidFill>
                <a:latin typeface="Arial"/>
              </a:rPr>
              <a:t>ТЕХНІКА,</a:t>
            </a:r>
          </a:p>
          <a:p>
            <a:pPr algn="l">
              <a:lnSpc>
                <a:spcPct val="92000"/>
              </a:lnSpc>
            </a:pPr>
            <a:r>
              <a:rPr sz="3100" b="1" spc="-50" dirty="0">
                <a:solidFill>
                  <a:srgbClr val="1E2228"/>
                </a:solidFill>
                <a:latin typeface="Arial"/>
              </a:rPr>
              <a:t>ЩО НЕ ПРОСИТЬ</a:t>
            </a:r>
          </a:p>
          <a:p>
            <a:pPr algn="l">
              <a:lnSpc>
                <a:spcPct val="92000"/>
              </a:lnSpc>
            </a:pPr>
            <a:r>
              <a:rPr sz="3100" b="1" spc="-50" dirty="0">
                <a:solidFill>
                  <a:srgbClr val="F2530A"/>
                </a:solidFill>
                <a:latin typeface="Arial"/>
              </a:rPr>
              <a:t>ВИХІДНИХ.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2608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200" b="0" dirty="0" err="1">
                <a:solidFill>
                  <a:srgbClr val="1E2228"/>
                </a:solidFill>
                <a:latin typeface="Arial"/>
              </a:rPr>
              <a:t>Лісовий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кран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з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вильотом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7,2 м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для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ефективного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навантаження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деревини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на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лісовозні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причепи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або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1E2228"/>
                </a:solidFill>
                <a:latin typeface="Arial"/>
              </a:rPr>
              <a:t>трактори</a:t>
            </a:r>
            <a:r>
              <a:rPr sz="1200" b="0" dirty="0">
                <a:solidFill>
                  <a:srgbClr val="1E2228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794760"/>
            <a:ext cx="356616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5B626B"/>
                </a:solidFill>
                <a:latin typeface="Arial"/>
              </a:rPr>
              <a:t>Триточкове навішування, ширококутний шарнір і телескопічна стріла роблять BMF 720 універсальним: монтаж на причіп BMF або напряму на трактор.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4526280"/>
            <a:ext cx="207568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F2530A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0" y="4590288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1E2228"/>
                </a:solidFill>
                <a:latin typeface="Arial"/>
              </a:rPr>
              <a:t>1100</a:t>
            </a:r>
            <a:r>
              <a:rPr sz="1000" b="1">
                <a:solidFill>
                  <a:srgbClr val="F2530A"/>
                </a:solidFill>
                <a:latin typeface="Arial"/>
              </a:rPr>
              <a:t> кг</a:t>
            </a:r>
          </a:p>
          <a:p>
            <a:pPr algn="l"/>
            <a:r>
              <a:rPr sz="700" b="0">
                <a:solidFill>
                  <a:srgbClr val="5B626B"/>
                </a:solidFill>
                <a:latin typeface="Arial"/>
              </a:rPr>
              <a:t>на вильоті 4 м — без зайвих рухів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9893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8 ПРИЧИН, ЯКІ ВІДЧУЄТЕ З ПЕРШОГО ДНЯ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309360"/>
            <a:ext cx="161620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9496" y="641908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9496" y="6739128"/>
            <a:ext cx="1360170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9496" y="681228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1E2228"/>
                </a:solidFill>
                <a:latin typeface="Arial"/>
              </a:rPr>
              <a:t>My Inner Strenx®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" y="705916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Стріли зі сталі SSAB Strenx: тонші, легші й водночас міцніші.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19122" y="6309360"/>
            <a:ext cx="161620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47138" y="641908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247138" y="6739128"/>
            <a:ext cx="1360170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247138" y="681228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1E2228"/>
                </a:solidFill>
                <a:latin typeface="Arial"/>
              </a:rPr>
              <a:t>Hardox® In My Body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7138" y="705916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Захват зі зносостійкої сталі Hardox: ресурс на роки.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26764" y="6309360"/>
            <a:ext cx="161620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54780" y="641908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954780" y="6739128"/>
            <a:ext cx="1360170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954780" y="681228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1E2228"/>
                </a:solidFill>
                <a:latin typeface="Arial"/>
              </a:rPr>
              <a:t>Жорсткий корпус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4780" y="705916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Поворотна колона і корпус проходять аналіз і випробування.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34406" y="6309360"/>
            <a:ext cx="161620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2422" y="641908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2422" y="6739128"/>
            <a:ext cx="1360170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62422" y="681228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1E2228"/>
                </a:solidFill>
                <a:latin typeface="Arial"/>
              </a:rPr>
              <a:t>80%+ роботами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2422" y="705916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Зварювання роботами: стабільна якість кожного шва.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7726680"/>
            <a:ext cx="161620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9496" y="783640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05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9496" y="8156448"/>
            <a:ext cx="1360170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9496" y="822960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1E2228"/>
                </a:solidFill>
                <a:latin typeface="Arial"/>
              </a:rPr>
              <a:t>Поворот 370°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" y="847648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Чотири циліндри повороту: плавно й точно під навантаженням.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19122" y="7726680"/>
            <a:ext cx="161620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247138" y="783640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06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247138" y="8156448"/>
            <a:ext cx="1360170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247138" y="822960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1E2228"/>
                </a:solidFill>
                <a:latin typeface="Arial"/>
              </a:rPr>
              <a:t>Телескоп і кут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47138" y="847648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Більша зона роботи без перестановки техніки.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26764" y="7726680"/>
            <a:ext cx="161620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954780" y="783640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07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954780" y="8156448"/>
            <a:ext cx="1360170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954780" y="822960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1E2228"/>
                </a:solidFill>
                <a:latin typeface="Arial"/>
              </a:rPr>
              <a:t>Швидкий сервіс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54780" y="847648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Легкодоступні точки змащення економлять час щодня.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34406" y="7726680"/>
            <a:ext cx="161620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2422" y="783640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2530A"/>
                </a:solidFill>
                <a:latin typeface="Arial"/>
              </a:rPr>
              <a:t>08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62422" y="8156448"/>
            <a:ext cx="1360170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662422" y="8229600"/>
            <a:ext cx="136017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>
                <a:solidFill>
                  <a:srgbClr val="1E2228"/>
                </a:solidFill>
                <a:latin typeface="Arial"/>
              </a:rPr>
              <a:t>Порошкова фарба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2422" y="8476488"/>
            <a:ext cx="136017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Стійкість до корозії та охайний вигляд роками.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937260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8E959E"/>
                </a:solidFill>
                <a:latin typeface="Arial"/>
              </a:rPr>
              <a:t>// ДЛЯ КОГО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9601200"/>
            <a:ext cx="2176272" cy="411480"/>
          </a:xfrm>
          <a:prstGeom prst="rect">
            <a:avLst/>
          </a:prstGeom>
          <a:noFill/>
          <a:ln w="9525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11480" y="9601200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 spc="180">
                <a:solidFill>
                  <a:srgbClr val="F2530A"/>
                </a:solidFill>
                <a:latin typeface="Arial"/>
              </a:rPr>
              <a:t>+ </a:t>
            </a:r>
            <a:r>
              <a:rPr sz="850" b="1" spc="180">
                <a:solidFill>
                  <a:srgbClr val="1E2228"/>
                </a:solidFill>
                <a:latin typeface="Arial"/>
              </a:rPr>
              <a:t>ЛІСОГОСПОДАРСТВА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79192" y="9601200"/>
            <a:ext cx="2176272" cy="411480"/>
          </a:xfrm>
          <a:prstGeom prst="rect">
            <a:avLst/>
          </a:prstGeom>
          <a:noFill/>
          <a:ln w="9525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679192" y="9601200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 spc="180">
                <a:solidFill>
                  <a:srgbClr val="F2530A"/>
                </a:solidFill>
                <a:latin typeface="Arial"/>
              </a:rPr>
              <a:t>+ </a:t>
            </a:r>
            <a:r>
              <a:rPr sz="850" b="1" spc="180">
                <a:solidFill>
                  <a:srgbClr val="1E2228"/>
                </a:solidFill>
                <a:latin typeface="Arial"/>
              </a:rPr>
              <a:t>ФЕРМЕРИ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46904" y="9601200"/>
            <a:ext cx="2176272" cy="411480"/>
          </a:xfrm>
          <a:prstGeom prst="rect">
            <a:avLst/>
          </a:prstGeom>
          <a:noFill/>
          <a:ln w="9525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946904" y="9601200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50" b="1" spc="180">
                <a:solidFill>
                  <a:srgbClr val="F2530A"/>
                </a:solidFill>
                <a:latin typeface="Arial"/>
              </a:rPr>
              <a:t>+ </a:t>
            </a:r>
            <a:r>
              <a:rPr sz="850" b="1" spc="180">
                <a:solidFill>
                  <a:srgbClr val="1E2228"/>
                </a:solidFill>
                <a:latin typeface="Arial"/>
              </a:rPr>
              <a:t>ДЕРЕВООБРОБНИКИ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8E959E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8E959E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03</a:t>
            </a:r>
            <a:r>
              <a:rPr sz="750" b="1" spc="200">
                <a:solidFill>
                  <a:srgbClr val="8E959E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8E959E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8E959E"/>
                </a:solidFill>
                <a:latin typeface="Arial"/>
              </a:rPr>
              <a:t>СИСТЕМА ЛІСОВОГО КРАНА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02 — КОНСТРУКЦІЯ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98448"/>
            <a:ext cx="6739128" cy="1036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1E2228"/>
                </a:solidFill>
                <a:latin typeface="Arial"/>
              </a:rPr>
              <a:t>АНАТОМІЯ</a:t>
            </a:r>
          </a:p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F2530A"/>
                </a:solidFill>
                <a:latin typeface="Arial"/>
              </a:rPr>
              <a:t>СИЛИ.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371600"/>
            <a:ext cx="3127248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B626B"/>
                </a:solidFill>
                <a:latin typeface="Arial"/>
              </a:rPr>
              <a:t>Кожен вузол BMF 720 розрахований на щоденне навантаження. Розбираємо кран по деталях — від стріли до щелеп захвату.</a:t>
            </a:r>
          </a:p>
        </p:txBody>
      </p:sp>
      <p:pic>
        <p:nvPicPr>
          <p:cNvPr id="14" name="crane" descr="crane_g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240280"/>
            <a:ext cx="6949440" cy="3951093"/>
          </a:xfrm>
          <a:prstGeom prst="rect">
            <a:avLst/>
          </a:prstGeom>
        </p:spPr>
      </p:pic>
      <p:cxnSp>
        <p:nvCxnSpPr>
          <p:cNvPr id="15" name="Connector 14"/>
          <p:cNvCxnSpPr>
            <a:cxnSpLocks/>
          </p:cNvCxnSpPr>
          <p:nvPr/>
        </p:nvCxnSpPr>
        <p:spPr>
          <a:xfrm flipV="1">
            <a:off x="2743200" y="2724912"/>
            <a:ext cx="0" cy="1552894"/>
          </a:xfrm>
          <a:prstGeom prst="line">
            <a:avLst/>
          </a:prstGeom>
          <a:ln w="7620">
            <a:solidFill>
              <a:srgbClr val="F2530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679192" y="4213798"/>
            <a:ext cx="128016" cy="128016"/>
          </a:xfrm>
          <a:prstGeom prst="ellipse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2624328" y="4158934"/>
            <a:ext cx="237744" cy="237744"/>
          </a:xfrm>
          <a:prstGeom prst="ellipse">
            <a:avLst/>
          </a:prstGeom>
          <a:noFill/>
          <a:ln w="635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48840" y="224028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48840" y="2240280"/>
            <a:ext cx="219456" cy="5029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48840" y="2240280"/>
            <a:ext cx="21945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1448" y="2313432"/>
            <a:ext cx="127101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60">
                <a:solidFill>
                  <a:srgbClr val="1E2228"/>
                </a:solidFill>
                <a:latin typeface="Arial"/>
              </a:rPr>
              <a:t>СТРІЛА STRENX®</a:t>
            </a:r>
          </a:p>
          <a:p>
            <a:pPr algn="l"/>
            <a:r>
              <a:rPr sz="680" b="0">
                <a:solidFill>
                  <a:srgbClr val="5B626B"/>
                </a:solidFill>
                <a:latin typeface="Arial"/>
              </a:rPr>
              <a:t>тонша, легша, міцніша</a:t>
            </a:r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 flipV="1">
            <a:off x="5230368" y="2743200"/>
            <a:ext cx="0" cy="2055114"/>
          </a:xfrm>
          <a:prstGeom prst="line">
            <a:avLst/>
          </a:prstGeom>
          <a:ln w="7620">
            <a:solidFill>
              <a:srgbClr val="F2530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166360" y="4854350"/>
            <a:ext cx="128016" cy="128016"/>
          </a:xfrm>
          <a:prstGeom prst="ellipse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5111496" y="4799486"/>
            <a:ext cx="237744" cy="237744"/>
          </a:xfrm>
          <a:prstGeom prst="ellipse">
            <a:avLst/>
          </a:prstGeom>
          <a:noFill/>
          <a:ln w="635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069080" y="224028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69080" y="2240280"/>
            <a:ext cx="219456" cy="5029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69080" y="2240280"/>
            <a:ext cx="21945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2313432"/>
            <a:ext cx="127101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60">
                <a:solidFill>
                  <a:srgbClr val="1E2228"/>
                </a:solidFill>
                <a:latin typeface="Arial"/>
              </a:rPr>
              <a:t>ПОВОРОТНА КОЛОНА</a:t>
            </a:r>
          </a:p>
          <a:p>
            <a:pPr algn="l"/>
            <a:r>
              <a:rPr sz="680" b="0">
                <a:solidFill>
                  <a:srgbClr val="5B626B"/>
                </a:solidFill>
                <a:latin typeface="Arial"/>
              </a:rPr>
              <a:t>4 циліндри · 370° · 14 кНм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5989320" y="3383280"/>
            <a:ext cx="0" cy="475488"/>
          </a:xfrm>
          <a:prstGeom prst="line">
            <a:avLst/>
          </a:prstGeom>
          <a:ln w="7620">
            <a:solidFill>
              <a:srgbClr val="F2530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925312" y="3794760"/>
            <a:ext cx="128016" cy="128016"/>
          </a:xfrm>
          <a:prstGeom prst="ellipse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5870448" y="3739896"/>
            <a:ext cx="237744" cy="237744"/>
          </a:xfrm>
          <a:prstGeom prst="ellipse">
            <a:avLst/>
          </a:prstGeom>
          <a:noFill/>
          <a:ln w="635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550408" y="288036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550408" y="2880360"/>
            <a:ext cx="219456" cy="5029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50408" y="2880360"/>
            <a:ext cx="21945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3016" y="2953512"/>
            <a:ext cx="127101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60">
                <a:solidFill>
                  <a:srgbClr val="1E2228"/>
                </a:solidFill>
                <a:latin typeface="Arial"/>
              </a:rPr>
              <a:t>КЛАПАН 6/8XY</a:t>
            </a:r>
          </a:p>
          <a:p>
            <a:pPr algn="l"/>
            <a:r>
              <a:rPr sz="680" b="0">
                <a:solidFill>
                  <a:srgbClr val="5B626B"/>
                </a:solidFill>
                <a:latin typeface="Arial"/>
              </a:rPr>
              <a:t>55 л · 200 бар</a:t>
            </a:r>
          </a:p>
        </p:txBody>
      </p:sp>
      <p:cxnSp>
        <p:nvCxnSpPr>
          <p:cNvPr id="36" name="Connector 35"/>
          <p:cNvCxnSpPr>
            <a:cxnSpLocks/>
          </p:cNvCxnSpPr>
          <p:nvPr/>
        </p:nvCxnSpPr>
        <p:spPr>
          <a:xfrm>
            <a:off x="4967068" y="4983155"/>
            <a:ext cx="880168" cy="566928"/>
          </a:xfrm>
          <a:prstGeom prst="line">
            <a:avLst/>
          </a:prstGeom>
          <a:ln w="7620">
            <a:solidFill>
              <a:srgbClr val="F2530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800600" y="4853178"/>
            <a:ext cx="128016" cy="128016"/>
          </a:xfrm>
          <a:prstGeom prst="ellipse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Oval 37"/>
          <p:cNvSpPr/>
          <p:nvPr/>
        </p:nvSpPr>
        <p:spPr>
          <a:xfrm>
            <a:off x="4745736" y="4798314"/>
            <a:ext cx="237744" cy="237744"/>
          </a:xfrm>
          <a:prstGeom prst="ellipse">
            <a:avLst/>
          </a:prstGeom>
          <a:noFill/>
          <a:ln w="635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550408" y="553212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550408" y="5532120"/>
            <a:ext cx="219456" cy="5029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550408" y="5532120"/>
            <a:ext cx="21945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3016" y="5605272"/>
            <a:ext cx="127101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60">
                <a:solidFill>
                  <a:srgbClr val="1E2228"/>
                </a:solidFill>
                <a:latin typeface="Arial"/>
              </a:rPr>
              <a:t>РОТАТОР 4 Т + ЗАХВАТ</a:t>
            </a:r>
          </a:p>
          <a:p>
            <a:pPr algn="l"/>
            <a:r>
              <a:rPr sz="680" b="0">
                <a:solidFill>
                  <a:srgbClr val="5B626B"/>
                </a:solidFill>
                <a:latin typeface="Arial"/>
              </a:rPr>
              <a:t>у комплекті · Hardox® 0,24 м²</a:t>
            </a:r>
          </a:p>
        </p:txBody>
      </p:sp>
      <p:cxnSp>
        <p:nvCxnSpPr>
          <p:cNvPr id="43" name="Connector 42"/>
          <p:cNvCxnSpPr>
            <a:cxnSpLocks/>
          </p:cNvCxnSpPr>
          <p:nvPr/>
        </p:nvCxnSpPr>
        <p:spPr>
          <a:xfrm>
            <a:off x="4222183" y="4743450"/>
            <a:ext cx="0" cy="788670"/>
          </a:xfrm>
          <a:prstGeom prst="line">
            <a:avLst/>
          </a:prstGeom>
          <a:ln w="7620">
            <a:solidFill>
              <a:srgbClr val="F2530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158175" y="4679442"/>
            <a:ext cx="128016" cy="128016"/>
          </a:xfrm>
          <a:prstGeom prst="ellipse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Oval 44"/>
          <p:cNvSpPr/>
          <p:nvPr/>
        </p:nvSpPr>
        <p:spPr>
          <a:xfrm>
            <a:off x="4103311" y="4624578"/>
            <a:ext cx="237744" cy="237744"/>
          </a:xfrm>
          <a:prstGeom prst="ellipse">
            <a:avLst/>
          </a:prstGeom>
          <a:noFill/>
          <a:ln w="635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743200" y="553212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743200" y="5532120"/>
            <a:ext cx="219456" cy="5029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43200" y="5532120"/>
            <a:ext cx="21945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35808" y="5605272"/>
            <a:ext cx="127101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60">
                <a:solidFill>
                  <a:srgbClr val="1E2228"/>
                </a:solidFill>
                <a:latin typeface="Arial"/>
              </a:rPr>
              <a:t>ТЕЛЕСКОП</a:t>
            </a:r>
          </a:p>
          <a:p>
            <a:pPr algn="l"/>
            <a:r>
              <a:rPr sz="680" b="0">
                <a:solidFill>
                  <a:srgbClr val="5B626B"/>
                </a:solidFill>
                <a:latin typeface="Arial"/>
              </a:rPr>
              <a:t>виліт до 7,2 м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207008" y="4224528"/>
            <a:ext cx="0" cy="1307592"/>
          </a:xfrm>
          <a:prstGeom prst="line">
            <a:avLst/>
          </a:prstGeom>
          <a:ln w="7620">
            <a:solidFill>
              <a:srgbClr val="F2530A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1143000" y="4160520"/>
            <a:ext cx="128016" cy="128016"/>
          </a:xfrm>
          <a:prstGeom prst="ellipse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Oval 51"/>
          <p:cNvSpPr/>
          <p:nvPr/>
        </p:nvSpPr>
        <p:spPr>
          <a:xfrm>
            <a:off x="1088136" y="4105656"/>
            <a:ext cx="237744" cy="237744"/>
          </a:xfrm>
          <a:prstGeom prst="ellipse">
            <a:avLst/>
          </a:prstGeom>
          <a:noFill/>
          <a:ln w="6350">
            <a:solidFill>
              <a:srgbClr val="F2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11480" y="553212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11480" y="5532120"/>
            <a:ext cx="219456" cy="5029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1480" y="5532120"/>
            <a:ext cx="21945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" y="5605272"/>
            <a:ext cx="127101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60">
                <a:solidFill>
                  <a:srgbClr val="1E2228"/>
                </a:solidFill>
                <a:latin typeface="Arial"/>
              </a:rPr>
              <a:t>ШИРОКИЙ КУТ</a:t>
            </a:r>
          </a:p>
          <a:p>
            <a:pPr algn="l"/>
            <a:r>
              <a:rPr sz="680" b="0">
                <a:solidFill>
                  <a:srgbClr val="5B626B"/>
                </a:solidFill>
                <a:latin typeface="Arial"/>
              </a:rPr>
              <a:t>шарнір для низьких захватів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4465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КРЕСЛЕННЯ ВИРОБНИКА · РОБОЧА ЗОНА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56616" y="6711696"/>
            <a:ext cx="164592" cy="0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56616" y="6711696"/>
            <a:ext cx="0" cy="164592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4157241" y="6711696"/>
            <a:ext cx="164592" cy="0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321833" y="6711696"/>
            <a:ext cx="0" cy="164592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56616" y="10158984"/>
            <a:ext cx="164592" cy="0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56616" y="9994392"/>
            <a:ext cx="0" cy="164592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4157241" y="10158984"/>
            <a:ext cx="164592" cy="0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321833" y="9994392"/>
            <a:ext cx="0" cy="164592"/>
          </a:xfrm>
          <a:prstGeom prst="line">
            <a:avLst/>
          </a:prstGeom>
          <a:ln w="1270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800600" y="6720840"/>
            <a:ext cx="235000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800600" y="679399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1E2228"/>
                </a:solidFill>
                <a:latin typeface="Arial"/>
              </a:rPr>
              <a:t>7,2</a:t>
            </a:r>
            <a:r>
              <a:rPr sz="1000" b="1">
                <a:solidFill>
                  <a:srgbClr val="F2530A"/>
                </a:solidFill>
                <a:latin typeface="Arial"/>
              </a:rPr>
              <a:t> 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0600" y="717804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40">
                <a:solidFill>
                  <a:srgbClr val="5B626B"/>
                </a:solidFill>
                <a:latin typeface="Arial"/>
              </a:rPr>
              <a:t>МАКСИМАЛЬНИЙ ВИЛІТ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800600" y="7555230"/>
            <a:ext cx="235000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800600" y="762838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1E2228"/>
                </a:solidFill>
                <a:latin typeface="Arial"/>
              </a:rPr>
              <a:t>1100</a:t>
            </a:r>
            <a:r>
              <a:rPr sz="1000" b="1">
                <a:solidFill>
                  <a:srgbClr val="F2530A"/>
                </a:solidFill>
                <a:latin typeface="Arial"/>
              </a:rPr>
              <a:t> кг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00600" y="801243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40">
                <a:solidFill>
                  <a:srgbClr val="5B626B"/>
                </a:solidFill>
                <a:latin typeface="Arial"/>
              </a:rPr>
              <a:t>НА ВИЛЬОТІ 4 М*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800600" y="8389620"/>
            <a:ext cx="235000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4800600" y="846277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1E2228"/>
                </a:solidFill>
                <a:latin typeface="Arial"/>
              </a:rPr>
              <a:t>580</a:t>
            </a:r>
            <a:r>
              <a:rPr sz="1000" b="1">
                <a:solidFill>
                  <a:srgbClr val="F2530A"/>
                </a:solidFill>
                <a:latin typeface="Arial"/>
              </a:rPr>
              <a:t> кг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00600" y="884682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40">
                <a:solidFill>
                  <a:srgbClr val="5B626B"/>
                </a:solidFill>
                <a:latin typeface="Arial"/>
              </a:rPr>
              <a:t>НА ПОВНОМУ ВИЛЬОТІ*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4800600" y="9224010"/>
            <a:ext cx="235000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800600" y="929716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1E2228"/>
                </a:solidFill>
                <a:latin typeface="Arial"/>
              </a:rPr>
              <a:t>370</a:t>
            </a:r>
            <a:r>
              <a:rPr sz="1000" b="1">
                <a:solidFill>
                  <a:srgbClr val="F2530A"/>
                </a:solidFill>
                <a:latin typeface="Arial"/>
              </a:rPr>
              <a:t> 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00600" y="968121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40">
                <a:solidFill>
                  <a:srgbClr val="5B626B"/>
                </a:solidFill>
                <a:latin typeface="Arial"/>
              </a:rPr>
              <a:t>ПОВОРОТ СТРІЛИ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00600" y="1001268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00" b="0">
                <a:solidFill>
                  <a:srgbClr val="8E959E"/>
                </a:solidFill>
                <a:latin typeface="Arial"/>
              </a:rPr>
              <a:t>* без захвату і ротатора · bmf.ee</a:t>
            </a:r>
          </a:p>
        </p:txBody>
      </p:sp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98B6652B-5078-6A04-C3CE-7B7287DE1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8183880"/>
            <a:ext cx="2194560" cy="1813839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7ED2D5CD-0FA3-C6B5-BB1E-EA8B74A90B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6784848"/>
            <a:ext cx="3822192" cy="1148250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ACCCAA85-FAAC-BAB0-EEFC-52E16FCA60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7333488"/>
            <a:ext cx="1023779" cy="2761488"/>
          </a:xfrm>
          <a:prstGeom prst="rect">
            <a:avLst/>
          </a:prstGeom>
        </p:spPr>
      </p:pic>
      <p:sp>
        <p:nvSpPr>
          <p:cNvPr id="89" name="dim_7205"/>
          <p:cNvSpPr txBox="1"/>
          <p:nvPr/>
        </p:nvSpPr>
        <p:spPr>
          <a:xfrm>
            <a:off x="2190765" y="6778173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7205</a:t>
            </a:r>
          </a:p>
        </p:txBody>
      </p:sp>
      <p:sp>
        <p:nvSpPr>
          <p:cNvPr id="90" name="dim_3090"/>
          <p:cNvSpPr txBox="1"/>
          <p:nvPr/>
        </p:nvSpPr>
        <p:spPr>
          <a:xfrm>
            <a:off x="1263884" y="6870543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3090</a:t>
            </a:r>
          </a:p>
        </p:txBody>
      </p:sp>
      <p:sp>
        <p:nvSpPr>
          <p:cNvPr id="91" name="dim_105"/>
          <p:cNvSpPr txBox="1"/>
          <p:nvPr/>
        </p:nvSpPr>
        <p:spPr>
          <a:xfrm>
            <a:off x="423001" y="6870543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105</a:t>
            </a:r>
          </a:p>
        </p:txBody>
      </p:sp>
      <p:sp>
        <p:nvSpPr>
          <p:cNvPr id="92" name="dim_1820"/>
          <p:cNvSpPr txBox="1"/>
          <p:nvPr/>
        </p:nvSpPr>
        <p:spPr>
          <a:xfrm>
            <a:off x="215966" y="7416797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1820</a:t>
            </a:r>
          </a:p>
        </p:txBody>
      </p:sp>
      <p:sp>
        <p:nvSpPr>
          <p:cNvPr id="93" name="dim_1430"/>
          <p:cNvSpPr txBox="1"/>
          <p:nvPr/>
        </p:nvSpPr>
        <p:spPr>
          <a:xfrm>
            <a:off x="330632" y="7504389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1430</a:t>
            </a:r>
          </a:p>
        </p:txBody>
      </p:sp>
      <p:sp>
        <p:nvSpPr>
          <p:cNvPr id="94" name="dim_1100 кг"/>
          <p:cNvSpPr txBox="1"/>
          <p:nvPr/>
        </p:nvSpPr>
        <p:spPr>
          <a:xfrm>
            <a:off x="2413726" y="7501204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1100 кг</a:t>
            </a:r>
          </a:p>
        </p:txBody>
      </p:sp>
      <p:sp>
        <p:nvSpPr>
          <p:cNvPr id="95" name="dim_4 м"/>
          <p:cNvSpPr txBox="1"/>
          <p:nvPr/>
        </p:nvSpPr>
        <p:spPr>
          <a:xfrm>
            <a:off x="2404171" y="7638166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4 м</a:t>
            </a:r>
          </a:p>
        </p:txBody>
      </p:sp>
      <p:sp>
        <p:nvSpPr>
          <p:cNvPr id="96" name="dim_580 кг"/>
          <p:cNvSpPr txBox="1"/>
          <p:nvPr/>
        </p:nvSpPr>
        <p:spPr>
          <a:xfrm>
            <a:off x="3862974" y="7501204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580 кг</a:t>
            </a:r>
          </a:p>
        </p:txBody>
      </p:sp>
      <p:sp>
        <p:nvSpPr>
          <p:cNvPr id="97" name="dim_7,2 м"/>
          <p:cNvSpPr txBox="1"/>
          <p:nvPr/>
        </p:nvSpPr>
        <p:spPr>
          <a:xfrm>
            <a:off x="3853419" y="7638166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7,2 м</a:t>
            </a:r>
          </a:p>
        </p:txBody>
      </p:sp>
      <p:sp>
        <p:nvSpPr>
          <p:cNvPr id="98" name="dim_2245"/>
          <p:cNvSpPr txBox="1"/>
          <p:nvPr/>
        </p:nvSpPr>
        <p:spPr>
          <a:xfrm>
            <a:off x="3885375" y="9329815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2245</a:t>
            </a:r>
          </a:p>
        </p:txBody>
      </p:sp>
      <p:sp>
        <p:nvSpPr>
          <p:cNvPr id="99" name="dim_1000"/>
          <p:cNvSpPr txBox="1"/>
          <p:nvPr/>
        </p:nvSpPr>
        <p:spPr>
          <a:xfrm>
            <a:off x="3412616" y="9939930"/>
            <a:ext cx="5486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2530A"/>
                </a:solidFill>
                <a:latin typeface="Arial"/>
              </a:rPr>
              <a:t>1000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123" name="crane_side_drawing">
            <a:extLst>
              <a:ext uri="{FF2B5EF4-FFF2-40B4-BE49-F238E27FC236}">
                <a16:creationId xmlns:a16="http://schemas.microsoft.com/office/drawing/2014/main" id="{D44DA428-9220-3661-5A07-05C1CC667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8914" y="1991380"/>
            <a:ext cx="7125235" cy="2282209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8E959E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8E959E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04</a:t>
            </a:r>
            <a:r>
              <a:rPr sz="750" b="1" spc="200">
                <a:solidFill>
                  <a:srgbClr val="8E959E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8E959E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8E959E"/>
                </a:solidFill>
                <a:latin typeface="Arial"/>
              </a:rPr>
              <a:t>СИСТЕМА ЛІСОВОГО КРАНА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03 — ТЕХНІЧНИЙ ПАСПОРТ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98448"/>
            <a:ext cx="6739128" cy="1036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1E2228"/>
                </a:solidFill>
                <a:latin typeface="Arial"/>
              </a:rPr>
              <a:t>ЦИФРИ,</a:t>
            </a:r>
          </a:p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F2530A"/>
                </a:solidFill>
                <a:latin typeface="Arial"/>
              </a:rPr>
              <a:t>ЯКІ ПРАЦЮЮТЬ.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37744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20">
                <a:solidFill>
                  <a:srgbClr val="5B626B"/>
                </a:solidFill>
                <a:latin typeface="Arial"/>
              </a:rPr>
              <a:t>ВАНТАЖОПІДЙОМНІСТЬ ПО ВИЛЬОТУ, КГ*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4069080"/>
            <a:ext cx="6309360" cy="0"/>
          </a:xfrm>
          <a:prstGeom prst="line">
            <a:avLst/>
          </a:prstGeom>
          <a:ln w="9525">
            <a:solidFill>
              <a:srgbClr val="9AA1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" y="4069080"/>
            <a:ext cx="0" cy="54864"/>
          </a:xfrm>
          <a:prstGeom prst="line">
            <a:avLst/>
          </a:prstGeom>
          <a:ln w="6350">
            <a:solidFill>
              <a:srgbClr val="9AA1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" y="2834640"/>
            <a:ext cx="0" cy="1234440"/>
          </a:xfrm>
          <a:prstGeom prst="line">
            <a:avLst/>
          </a:prstGeom>
          <a:ln w="3175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>
                <a:solidFill>
                  <a:srgbClr val="5B626B"/>
                </a:solidFill>
                <a:latin typeface="Arial"/>
              </a:rPr>
              <a:t>0 м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27048" y="4069080"/>
            <a:ext cx="0" cy="54864"/>
          </a:xfrm>
          <a:prstGeom prst="line">
            <a:avLst/>
          </a:prstGeom>
          <a:ln w="6350">
            <a:solidFill>
              <a:srgbClr val="9AA1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27048" y="2834640"/>
            <a:ext cx="0" cy="1234440"/>
          </a:xfrm>
          <a:prstGeom prst="line">
            <a:avLst/>
          </a:prstGeom>
          <a:ln w="3175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44168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>
                <a:solidFill>
                  <a:srgbClr val="5B626B"/>
                </a:solidFill>
                <a:latin typeface="Arial"/>
              </a:rPr>
              <a:t>1 м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68296" y="4069080"/>
            <a:ext cx="0" cy="54864"/>
          </a:xfrm>
          <a:prstGeom prst="line">
            <a:avLst/>
          </a:prstGeom>
          <a:ln w="6350">
            <a:solidFill>
              <a:srgbClr val="9AA1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68296" y="2834640"/>
            <a:ext cx="0" cy="1234440"/>
          </a:xfrm>
          <a:prstGeom prst="line">
            <a:avLst/>
          </a:prstGeom>
          <a:ln w="3175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185416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>
                <a:solidFill>
                  <a:srgbClr val="5B626B"/>
                </a:solidFill>
                <a:latin typeface="Arial"/>
              </a:rPr>
              <a:t>2 м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09544" y="4069080"/>
            <a:ext cx="0" cy="54864"/>
          </a:xfrm>
          <a:prstGeom prst="line">
            <a:avLst/>
          </a:prstGeom>
          <a:ln w="6350">
            <a:solidFill>
              <a:srgbClr val="9AA1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209544" y="2834640"/>
            <a:ext cx="0" cy="1234440"/>
          </a:xfrm>
          <a:prstGeom prst="line">
            <a:avLst/>
          </a:prstGeom>
          <a:ln w="3175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026664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>
                <a:solidFill>
                  <a:srgbClr val="5B626B"/>
                </a:solidFill>
                <a:latin typeface="Arial"/>
              </a:rPr>
              <a:t>3 м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50792" y="4069080"/>
            <a:ext cx="0" cy="54864"/>
          </a:xfrm>
          <a:prstGeom prst="line">
            <a:avLst/>
          </a:prstGeom>
          <a:ln w="6350">
            <a:solidFill>
              <a:srgbClr val="9AA1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050792" y="2834640"/>
            <a:ext cx="0" cy="1234440"/>
          </a:xfrm>
          <a:prstGeom prst="line">
            <a:avLst/>
          </a:prstGeom>
          <a:ln w="3175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867912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 dirty="0">
                <a:solidFill>
                  <a:srgbClr val="5B626B"/>
                </a:solidFill>
                <a:latin typeface="Arial"/>
              </a:rPr>
              <a:t>4 м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92040" y="4069080"/>
            <a:ext cx="0" cy="54864"/>
          </a:xfrm>
          <a:prstGeom prst="line">
            <a:avLst/>
          </a:prstGeom>
          <a:ln w="6350">
            <a:solidFill>
              <a:srgbClr val="9AA1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892040" y="2834640"/>
            <a:ext cx="0" cy="1234440"/>
          </a:xfrm>
          <a:prstGeom prst="line">
            <a:avLst/>
          </a:prstGeom>
          <a:ln w="3175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09160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 dirty="0">
                <a:solidFill>
                  <a:srgbClr val="5B626B"/>
                </a:solidFill>
                <a:latin typeface="Arial"/>
              </a:rPr>
              <a:t>5 м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33288" y="4069080"/>
            <a:ext cx="0" cy="54864"/>
          </a:xfrm>
          <a:prstGeom prst="line">
            <a:avLst/>
          </a:prstGeom>
          <a:ln w="6350">
            <a:solidFill>
              <a:srgbClr val="9AA1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33288" y="2834640"/>
            <a:ext cx="0" cy="1234440"/>
          </a:xfrm>
          <a:prstGeom prst="line">
            <a:avLst/>
          </a:prstGeom>
          <a:ln w="3175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50408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>
                <a:solidFill>
                  <a:srgbClr val="5B626B"/>
                </a:solidFill>
                <a:latin typeface="Arial"/>
              </a:rPr>
              <a:t>6 м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74536" y="4069080"/>
            <a:ext cx="0" cy="54864"/>
          </a:xfrm>
          <a:prstGeom prst="line">
            <a:avLst/>
          </a:prstGeom>
          <a:ln w="6350">
            <a:solidFill>
              <a:srgbClr val="9AA1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574536" y="2834640"/>
            <a:ext cx="0" cy="1234440"/>
          </a:xfrm>
          <a:prstGeom prst="line">
            <a:avLst/>
          </a:prstGeom>
          <a:ln w="3175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91656" y="4142232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00" b="0">
                <a:solidFill>
                  <a:srgbClr val="5B626B"/>
                </a:solidFill>
                <a:latin typeface="Arial"/>
              </a:rPr>
              <a:t>7 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58184" y="3225800"/>
            <a:ext cx="585216" cy="843280"/>
          </a:xfrm>
          <a:prstGeom prst="rect">
            <a:avLst/>
          </a:prstGeom>
          <a:solidFill>
            <a:srgbClr val="F2530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758184" y="3180080"/>
            <a:ext cx="585216" cy="36576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33903" y="328828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</a:rPr>
              <a:t>1100</a:t>
            </a:r>
            <a:r>
              <a:rPr sz="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800" b="1" dirty="0" err="1">
                <a:solidFill>
                  <a:srgbClr val="FFFFFF"/>
                </a:solidFill>
                <a:latin typeface="Arial"/>
              </a:rPr>
              <a:t>кг</a:t>
            </a:r>
            <a:endParaRPr sz="800" b="1" dirty="0">
              <a:solidFill>
                <a:srgbClr val="F2530A"/>
              </a:solidFill>
              <a:latin typeface="Arial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450178" y="3628136"/>
            <a:ext cx="585216" cy="440944"/>
          </a:xfrm>
          <a:prstGeom prst="rect">
            <a:avLst/>
          </a:prstGeom>
          <a:solidFill>
            <a:srgbClr val="F2530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50178" y="3609847"/>
            <a:ext cx="585216" cy="36576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25896" y="370179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</a:rPr>
              <a:t>580</a:t>
            </a:r>
            <a:r>
              <a:rPr sz="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800" b="1" dirty="0" err="1">
                <a:solidFill>
                  <a:srgbClr val="FFFFFF"/>
                </a:solidFill>
                <a:latin typeface="Arial"/>
              </a:rPr>
              <a:t>кг</a:t>
            </a:r>
            <a:endParaRPr sz="800" b="1" dirty="0">
              <a:solidFill>
                <a:srgbClr val="F2530A"/>
              </a:solidFill>
              <a:latin typeface="Arial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685800" y="2553547"/>
            <a:ext cx="6056986" cy="0"/>
          </a:xfrm>
          <a:prstGeom prst="line">
            <a:avLst/>
          </a:prstGeom>
          <a:ln w="952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742786" y="2587752"/>
            <a:ext cx="0" cy="128016"/>
          </a:xfrm>
          <a:prstGeom prst="line">
            <a:avLst/>
          </a:prstGeom>
          <a:ln w="952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389120" y="2377440"/>
            <a:ext cx="27614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F2530A"/>
                </a:solidFill>
                <a:latin typeface="Arial"/>
              </a:rPr>
              <a:t>ЗОНА РОБОТИ 0 — 7,2 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452628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20">
                <a:solidFill>
                  <a:srgbClr val="5B626B"/>
                </a:solidFill>
                <a:latin typeface="Arial"/>
              </a:rPr>
              <a:t>// ПОВНА СПЕЦИФІКАЦІЯ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754880"/>
            <a:ext cx="673912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640" y="4754880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4754880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Максимальний виліт</a:t>
            </a:r>
          </a:p>
        </p:txBody>
      </p:sp>
      <p:sp>
        <p:nvSpPr>
          <p:cNvPr id="52" name="fld_spec_01"/>
          <p:cNvSpPr txBox="1"/>
          <p:nvPr/>
        </p:nvSpPr>
        <p:spPr>
          <a:xfrm>
            <a:off x="4846320" y="4754880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7,2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4754880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093208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5093208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Підйомний момент, брутто</a:t>
            </a:r>
          </a:p>
        </p:txBody>
      </p:sp>
      <p:sp>
        <p:nvSpPr>
          <p:cNvPr id="56" name="fld_spec_02"/>
          <p:cNvSpPr txBox="1"/>
          <p:nvPr/>
        </p:nvSpPr>
        <p:spPr>
          <a:xfrm>
            <a:off x="4846320" y="5093208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60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5093208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кНм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5431536"/>
            <a:ext cx="673912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8640" y="5431536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" y="5431536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Вантажопідйомність на 4 м*</a:t>
            </a:r>
          </a:p>
        </p:txBody>
      </p:sp>
      <p:sp>
        <p:nvSpPr>
          <p:cNvPr id="61" name="fld_spec_03"/>
          <p:cNvSpPr txBox="1"/>
          <p:nvPr/>
        </p:nvSpPr>
        <p:spPr>
          <a:xfrm>
            <a:off x="4846320" y="5431536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1100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6520" y="5431536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кг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5769864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" y="5769864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Підйомна сила на повному вильоті*</a:t>
            </a:r>
          </a:p>
        </p:txBody>
      </p:sp>
      <p:sp>
        <p:nvSpPr>
          <p:cNvPr id="65" name="fld_spec_04"/>
          <p:cNvSpPr txBox="1"/>
          <p:nvPr/>
        </p:nvSpPr>
        <p:spPr>
          <a:xfrm>
            <a:off x="4846320" y="5769864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580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46520" y="5769864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кг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6108192"/>
            <a:ext cx="673912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48640" y="6108192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S-05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" y="6108192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Захват (у комплекті)</a:t>
            </a:r>
          </a:p>
        </p:txBody>
      </p:sp>
      <p:sp>
        <p:nvSpPr>
          <p:cNvPr id="70" name="fld_spec_05"/>
          <p:cNvSpPr txBox="1"/>
          <p:nvPr/>
        </p:nvSpPr>
        <p:spPr>
          <a:xfrm>
            <a:off x="4846320" y="6108192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0,24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46520" y="6108192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м²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446520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S-06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7280" y="6446520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Ротатор (у комплекті)</a:t>
            </a:r>
          </a:p>
        </p:txBody>
      </p:sp>
      <p:sp>
        <p:nvSpPr>
          <p:cNvPr id="74" name="fld_spec_06"/>
          <p:cNvSpPr txBox="1"/>
          <p:nvPr/>
        </p:nvSpPr>
        <p:spPr>
          <a:xfrm>
            <a:off x="4846320" y="6446520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46520" y="6446520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т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6784848"/>
            <a:ext cx="673912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8640" y="6784848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S-07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7280" y="6784848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Гідравлічний клапан, стандарт</a:t>
            </a:r>
          </a:p>
        </p:txBody>
      </p:sp>
      <p:sp>
        <p:nvSpPr>
          <p:cNvPr id="79" name="fld_spec_07"/>
          <p:cNvSpPr txBox="1"/>
          <p:nvPr/>
        </p:nvSpPr>
        <p:spPr>
          <a:xfrm>
            <a:off x="4846320" y="6784848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6/8XY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46520" y="6784848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55 л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7123176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S-08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97280" y="7123176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Поворотний момент</a:t>
            </a:r>
          </a:p>
        </p:txBody>
      </p:sp>
      <p:sp>
        <p:nvSpPr>
          <p:cNvPr id="83" name="fld_spec_08"/>
          <p:cNvSpPr txBox="1"/>
          <p:nvPr/>
        </p:nvSpPr>
        <p:spPr>
          <a:xfrm>
            <a:off x="4846320" y="7123176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14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46520" y="7123176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кНм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1480" y="7461504"/>
            <a:ext cx="673912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48640" y="7461504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S-09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97280" y="7461504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Циліндри повороту</a:t>
            </a:r>
          </a:p>
        </p:txBody>
      </p:sp>
      <p:sp>
        <p:nvSpPr>
          <p:cNvPr id="88" name="fld_spec_09"/>
          <p:cNvSpPr txBox="1"/>
          <p:nvPr/>
        </p:nvSpPr>
        <p:spPr>
          <a:xfrm>
            <a:off x="4846320" y="7461504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46520" y="7461504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шт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7799832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7280" y="7799832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Поворот стріли</a:t>
            </a:r>
          </a:p>
        </p:txBody>
      </p:sp>
      <p:sp>
        <p:nvSpPr>
          <p:cNvPr id="92" name="fld_spec_10"/>
          <p:cNvSpPr txBox="1"/>
          <p:nvPr/>
        </p:nvSpPr>
        <p:spPr>
          <a:xfrm>
            <a:off x="4846320" y="7799832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370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46520" y="7799832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°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11480" y="8138160"/>
            <a:ext cx="673912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48640" y="8138160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S-11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7280" y="8138160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Робочий тиск</a:t>
            </a:r>
          </a:p>
        </p:txBody>
      </p:sp>
      <p:sp>
        <p:nvSpPr>
          <p:cNvPr id="97" name="fld_spec_11"/>
          <p:cNvSpPr txBox="1"/>
          <p:nvPr/>
        </p:nvSpPr>
        <p:spPr>
          <a:xfrm>
            <a:off x="4846320" y="8138160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200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46520" y="8138160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бар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8640" y="8476488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S-12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97280" y="8476488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Продуктивність гідронасоса</a:t>
            </a:r>
          </a:p>
        </p:txBody>
      </p:sp>
      <p:sp>
        <p:nvSpPr>
          <p:cNvPr id="101" name="fld_spec_12"/>
          <p:cNvSpPr txBox="1"/>
          <p:nvPr/>
        </p:nvSpPr>
        <p:spPr>
          <a:xfrm>
            <a:off x="4846320" y="8476488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30–60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46520" y="8476488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л/хв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11480" y="8814816"/>
            <a:ext cx="673912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48640" y="8814816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S-13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7280" y="8814816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Телескоп / широкий кут</a:t>
            </a:r>
          </a:p>
        </p:txBody>
      </p:sp>
      <p:sp>
        <p:nvSpPr>
          <p:cNvPr id="106" name="fld_spec_13"/>
          <p:cNvSpPr txBox="1"/>
          <p:nvPr/>
        </p:nvSpPr>
        <p:spPr>
          <a:xfrm>
            <a:off x="4846320" y="8814816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так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46520" y="8814816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48640" y="9153144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S-14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97280" y="9153144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Тип опорних лап</a:t>
            </a:r>
          </a:p>
        </p:txBody>
      </p:sp>
      <p:sp>
        <p:nvSpPr>
          <p:cNvPr id="110" name="fld_spec_14"/>
          <p:cNvSpPr txBox="1"/>
          <p:nvPr/>
        </p:nvSpPr>
        <p:spPr>
          <a:xfrm>
            <a:off x="4846320" y="9153144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A/FD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46520" y="9153144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411480" y="9491472"/>
            <a:ext cx="6739128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48640" y="9491472"/>
            <a:ext cx="4572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650" b="1" spc="100">
                <a:solidFill>
                  <a:srgbClr val="8E959E"/>
                </a:solidFill>
                <a:latin typeface="Arial"/>
              </a:rPr>
              <a:t>S-15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9491472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50" b="0">
                <a:solidFill>
                  <a:srgbClr val="1E2228"/>
                </a:solidFill>
                <a:latin typeface="Arial"/>
              </a:rPr>
              <a:t>Вага (без опори, захвату, ротатора)</a:t>
            </a:r>
          </a:p>
        </p:txBody>
      </p:sp>
      <p:sp>
        <p:nvSpPr>
          <p:cNvPr id="115" name="fld_spec_15"/>
          <p:cNvSpPr txBox="1"/>
          <p:nvPr/>
        </p:nvSpPr>
        <p:spPr>
          <a:xfrm>
            <a:off x="4846320" y="9491472"/>
            <a:ext cx="150876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200" b="1">
                <a:solidFill>
                  <a:srgbClr val="F2530A"/>
                </a:solidFill>
                <a:latin typeface="Arial"/>
              </a:rPr>
              <a:t>675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46520" y="9491472"/>
            <a:ext cx="64008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5B626B"/>
                </a:solidFill>
                <a:latin typeface="Arial"/>
              </a:rPr>
              <a:t>кг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411480" y="9829800"/>
            <a:ext cx="6739128" cy="0"/>
          </a:xfrm>
          <a:prstGeom prst="line">
            <a:avLst/>
          </a:prstGeom>
          <a:ln w="952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411480" y="9921240"/>
            <a:ext cx="673912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0">
                <a:solidFill>
                  <a:srgbClr val="8E959E"/>
                </a:solidFill>
                <a:latin typeface="Arial"/>
              </a:rPr>
              <a:t>* без захвату і ротатора. Дані виробника, bmf.ee. Вага 675 кг — без опори, захвату і ротатора.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8E959E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8E959E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05</a:t>
            </a:r>
            <a:r>
              <a:rPr sz="750" b="1" spc="200">
                <a:solidFill>
                  <a:srgbClr val="8E959E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8E959E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8E959E"/>
                </a:solidFill>
                <a:latin typeface="Arial"/>
              </a:rPr>
              <a:t>СИСТЕМА ЛІСОВОГО КРАНА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04 — КОНФІГУРАЦІЯ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98448"/>
            <a:ext cx="6739128" cy="1036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1E2228"/>
                </a:solidFill>
                <a:latin typeface="Arial"/>
              </a:rPr>
              <a:t>ЗІБРАНО</a:t>
            </a:r>
          </a:p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F2530A"/>
                </a:solidFill>
                <a:latin typeface="Arial"/>
              </a:rPr>
              <a:t>ПІД ВАШУ ЗАДАЧУ.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31720"/>
            <a:ext cx="331927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Picture 13" descr="mo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43" y="2606040"/>
            <a:ext cx="2630546" cy="1417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7784" y="2459736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МОДУЛЬ 01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7784" y="4114800"/>
            <a:ext cx="3026664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7784" y="4187952"/>
            <a:ext cx="302666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>
                <a:solidFill>
                  <a:srgbClr val="1E2228"/>
                </a:solidFill>
                <a:latin typeface="Arial"/>
              </a:rPr>
              <a:t>Кран-маніпулятор BMF 720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44348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у комплекті з ротатором 4 т і захватом 0,24 м²</a:t>
            </a:r>
          </a:p>
        </p:txBody>
      </p:sp>
      <p:sp>
        <p:nvSpPr>
          <p:cNvPr id="21" name="fld_price_1"/>
          <p:cNvSpPr txBox="1"/>
          <p:nvPr/>
        </p:nvSpPr>
        <p:spPr>
          <a:xfrm>
            <a:off x="2148840" y="4453128"/>
            <a:ext cx="14356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300" b="1">
                <a:solidFill>
                  <a:srgbClr val="1E2228"/>
                </a:solidFill>
                <a:latin typeface="Arial"/>
              </a:rPr>
              <a:t>686 000 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974336"/>
            <a:ext cx="331927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3" name="Picture 22" descr="mo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524" y="5248656"/>
            <a:ext cx="2135183" cy="1417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57784" y="5102352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МОДУЛЬ 03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7784" y="6757416"/>
            <a:ext cx="3026664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57784" y="6830568"/>
            <a:ext cx="302666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>
                <a:solidFill>
                  <a:srgbClr val="1E2228"/>
                </a:solidFill>
                <a:latin typeface="Arial"/>
              </a:rPr>
              <a:t>Платформа з аутригерами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" y="7077456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опорні лапи, РВТ, з’єднувальні болти, фланці</a:t>
            </a:r>
          </a:p>
        </p:txBody>
      </p:sp>
      <p:sp>
        <p:nvSpPr>
          <p:cNvPr id="28" name="fld_price_2"/>
          <p:cNvSpPr txBox="1"/>
          <p:nvPr/>
        </p:nvSpPr>
        <p:spPr>
          <a:xfrm>
            <a:off x="2148840" y="7095744"/>
            <a:ext cx="14356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300" b="1">
                <a:solidFill>
                  <a:srgbClr val="1E2228"/>
                </a:solidFill>
                <a:latin typeface="Arial"/>
              </a:rPr>
              <a:t>155 000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31336" y="4974336"/>
            <a:ext cx="331927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0" name="Picture 29" descr="mo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4313" y="5248656"/>
            <a:ext cx="1193318" cy="1417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77640" y="5102352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МОДУЛЬ 04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977640" y="6757416"/>
            <a:ext cx="3026664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977640" y="6830568"/>
            <a:ext cx="302666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>
                <a:solidFill>
                  <a:srgbClr val="1E2228"/>
                </a:solidFill>
                <a:latin typeface="Arial"/>
              </a:rPr>
              <a:t>Гідравлічний бак в зборі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40" y="7077456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живлення робочої системи крана</a:t>
            </a:r>
          </a:p>
        </p:txBody>
      </p:sp>
      <p:sp>
        <p:nvSpPr>
          <p:cNvPr id="35" name="fld_price_3"/>
          <p:cNvSpPr txBox="1"/>
          <p:nvPr/>
        </p:nvSpPr>
        <p:spPr>
          <a:xfrm>
            <a:off x="5568696" y="7095744"/>
            <a:ext cx="14356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300" b="1">
                <a:solidFill>
                  <a:srgbClr val="1E2228"/>
                </a:solidFill>
                <a:latin typeface="Arial"/>
              </a:rPr>
              <a:t>18 500 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31336" y="2331720"/>
            <a:ext cx="331927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7" name="Picture 36" descr="mo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2051" y="2606040"/>
            <a:ext cx="1177842" cy="1417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977640" y="2459736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МОДУЛЬ 02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977640" y="4114800"/>
            <a:ext cx="3026664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977640" y="4187952"/>
            <a:ext cx="3026664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>
                <a:solidFill>
                  <a:srgbClr val="1E2228"/>
                </a:solidFill>
                <a:latin typeface="Arial"/>
              </a:rPr>
              <a:t>Місце оператора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640" y="44348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</a:pPr>
            <a:r>
              <a:rPr sz="750" b="0">
                <a:solidFill>
                  <a:srgbClr val="5B626B"/>
                </a:solidFill>
                <a:latin typeface="Arial"/>
              </a:rPr>
              <a:t>ергономічне робоче місце з органами керування</a:t>
            </a:r>
          </a:p>
        </p:txBody>
      </p:sp>
      <p:sp>
        <p:nvSpPr>
          <p:cNvPr id="42" name="fld_price_4"/>
          <p:cNvSpPr txBox="1"/>
          <p:nvPr/>
        </p:nvSpPr>
        <p:spPr>
          <a:xfrm>
            <a:off x="5568696" y="4453128"/>
            <a:ext cx="14356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300" b="1">
                <a:solidFill>
                  <a:srgbClr val="1E2228"/>
                </a:solidFill>
                <a:latin typeface="Arial"/>
              </a:rPr>
              <a:t>27 750 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7635240"/>
            <a:ext cx="673912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530A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172112" y="7804405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200" dirty="0">
                <a:solidFill>
                  <a:srgbClr val="F2530A"/>
                </a:solidFill>
                <a:latin typeface="Arial"/>
              </a:rPr>
              <a:t>ВЖЕ В ЦІНІ КРАНА · БЕЗ ДОПЛАТ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72112" y="8033005"/>
            <a:ext cx="3985513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uk-UA" sz="1500" b="1" dirty="0">
                <a:solidFill>
                  <a:srgbClr val="1E2228"/>
                </a:solidFill>
                <a:latin typeface="Arial"/>
              </a:rPr>
              <a:t>р</a:t>
            </a:r>
            <a:r>
              <a:rPr sz="1500" b="1" dirty="0" err="1">
                <a:solidFill>
                  <a:srgbClr val="1E2228"/>
                </a:solidFill>
                <a:latin typeface="Arial"/>
              </a:rPr>
              <a:t>отатор</a:t>
            </a:r>
            <a:r>
              <a:rPr sz="1500" b="1" dirty="0">
                <a:solidFill>
                  <a:srgbClr val="1E2228"/>
                </a:solidFill>
                <a:latin typeface="Arial"/>
              </a:rPr>
              <a:t> 4 т</a:t>
            </a:r>
            <a:r>
              <a:rPr sz="1500" b="1" dirty="0">
                <a:solidFill>
                  <a:srgbClr val="F2530A"/>
                </a:solidFill>
                <a:latin typeface="Arial"/>
              </a:rPr>
              <a:t>  +  </a:t>
            </a:r>
            <a:r>
              <a:rPr sz="1500" b="1" dirty="0" err="1">
                <a:solidFill>
                  <a:srgbClr val="1E2228"/>
                </a:solidFill>
                <a:latin typeface="Arial"/>
              </a:rPr>
              <a:t>захват</a:t>
            </a:r>
            <a:r>
              <a:rPr sz="1500" b="1" dirty="0">
                <a:solidFill>
                  <a:srgbClr val="1E2228"/>
                </a:solidFill>
                <a:latin typeface="Arial"/>
              </a:rPr>
              <a:t> 0,24 м² </a:t>
            </a:r>
            <a:r>
              <a:rPr sz="1500" b="1" dirty="0" err="1">
                <a:solidFill>
                  <a:srgbClr val="1E2228"/>
                </a:solidFill>
                <a:latin typeface="Arial"/>
              </a:rPr>
              <a:t>Hardox</a:t>
            </a:r>
            <a:r>
              <a:rPr sz="1500" b="1" dirty="0">
                <a:solidFill>
                  <a:srgbClr val="1E2228"/>
                </a:solidFill>
                <a:latin typeface="Arial"/>
              </a:rPr>
              <a:t>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72112" y="835691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dirty="0" err="1">
                <a:solidFill>
                  <a:srgbClr val="5B626B"/>
                </a:solidFill>
                <a:latin typeface="Arial"/>
              </a:rPr>
              <a:t>Кран-маніпулятор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 BMF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постачається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готовим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до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роботи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: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безперервне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обертання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 і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щелепи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зі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зносостійкої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 </a:t>
            </a:r>
            <a:r>
              <a:rPr sz="750" b="0" dirty="0" err="1">
                <a:solidFill>
                  <a:srgbClr val="5B626B"/>
                </a:solidFill>
                <a:latin typeface="Arial"/>
              </a:rPr>
              <a:t>сталі</a:t>
            </a:r>
            <a:r>
              <a:rPr sz="750" b="0" dirty="0">
                <a:solidFill>
                  <a:srgbClr val="5B626B"/>
                </a:solidFill>
                <a:latin typeface="Arial"/>
              </a:rPr>
              <a:t>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89611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20">
                <a:solidFill>
                  <a:srgbClr val="5B626B"/>
                </a:solidFill>
                <a:latin typeface="Arial"/>
              </a:rPr>
              <a:t>// + ОПЦІЇ ДЛЯ АПГРЕЙДУ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9189720"/>
            <a:ext cx="1616202" cy="384048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1208" y="9189720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uk-UA" sz="750" b="1" dirty="0">
                <a:solidFill>
                  <a:srgbClr val="1E2228"/>
                </a:solidFill>
                <a:latin typeface="Arial"/>
              </a:rPr>
              <a:t>Теплообмінник</a:t>
            </a:r>
            <a:endParaRPr sz="750" b="1" dirty="0">
              <a:solidFill>
                <a:srgbClr val="1E2228"/>
              </a:solidFill>
              <a:latin typeface="Arial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119122" y="9189720"/>
            <a:ext cx="1616202" cy="384048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228850" y="9189720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uk-UA" sz="750" b="1" dirty="0">
                <a:solidFill>
                  <a:srgbClr val="1E2228"/>
                </a:solidFill>
                <a:latin typeface="Arial"/>
              </a:rPr>
              <a:t>Насос</a:t>
            </a:r>
            <a:endParaRPr sz="750" b="1" dirty="0">
              <a:solidFill>
                <a:srgbClr val="1E2228"/>
              </a:solidFill>
              <a:latin typeface="Arial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3826764" y="9189720"/>
            <a:ext cx="1616202" cy="384048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936492" y="9189720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ru-RU" sz="750" b="1" dirty="0" err="1">
                <a:solidFill>
                  <a:srgbClr val="1E2228"/>
                </a:solidFill>
                <a:latin typeface="Arial"/>
              </a:rPr>
              <a:t>Додаткове</a:t>
            </a:r>
            <a:r>
              <a:rPr lang="ru-RU" sz="750" b="1" dirty="0">
                <a:solidFill>
                  <a:srgbClr val="1E2228"/>
                </a:solidFill>
                <a:latin typeface="Arial"/>
              </a:rPr>
              <a:t> </a:t>
            </a:r>
            <a:r>
              <a:rPr lang="ru-RU" sz="750" b="1" dirty="0" err="1">
                <a:solidFill>
                  <a:srgbClr val="1E2228"/>
                </a:solidFill>
                <a:latin typeface="Arial"/>
              </a:rPr>
              <a:t>сидіння</a:t>
            </a:r>
            <a:endParaRPr sz="750" b="1" dirty="0">
              <a:solidFill>
                <a:srgbClr val="1E2228"/>
              </a:solidFill>
              <a:latin typeface="Arial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534406" y="9189720"/>
            <a:ext cx="1616202" cy="384048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644134" y="9189720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ru-RU" sz="750" b="1" dirty="0">
                <a:solidFill>
                  <a:srgbClr val="1E2228"/>
                </a:solidFill>
                <a:latin typeface="Arial"/>
              </a:rPr>
              <a:t>Ящик для </a:t>
            </a:r>
            <a:r>
              <a:rPr lang="ru-RU" sz="750" b="1" dirty="0" err="1">
                <a:solidFill>
                  <a:srgbClr val="1E2228"/>
                </a:solidFill>
                <a:latin typeface="Arial"/>
              </a:rPr>
              <a:t>інструмента</a:t>
            </a:r>
            <a:endParaRPr sz="750" b="1" dirty="0">
              <a:solidFill>
                <a:srgbClr val="1E2228"/>
              </a:solidFill>
              <a:latin typeface="Aria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11480" y="9665208"/>
            <a:ext cx="1616202" cy="384048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21208" y="9665208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uk-UA" sz="750" b="1" dirty="0">
                <a:solidFill>
                  <a:srgbClr val="1E2228"/>
                </a:solidFill>
                <a:latin typeface="Arial"/>
              </a:rPr>
              <a:t>Олива</a:t>
            </a:r>
            <a:endParaRPr sz="750" b="1" dirty="0">
              <a:solidFill>
                <a:srgbClr val="1E2228"/>
              </a:solidFill>
              <a:latin typeface="Arial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119122" y="9665208"/>
            <a:ext cx="1616202" cy="384048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228850" y="9665208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uk-UA" sz="750" b="1" dirty="0">
                <a:solidFill>
                  <a:srgbClr val="1E2228"/>
                </a:solidFill>
                <a:latin typeface="Arial"/>
              </a:rPr>
              <a:t>Ящик для інструмента</a:t>
            </a:r>
            <a:endParaRPr sz="750" b="1" dirty="0">
              <a:solidFill>
                <a:srgbClr val="1E2228"/>
              </a:solidFill>
              <a:latin typeface="Arial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826764" y="9665208"/>
            <a:ext cx="1616202" cy="384048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936492" y="9665208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750" b="1" dirty="0">
                <a:solidFill>
                  <a:srgbClr val="F2530A"/>
                </a:solidFill>
                <a:latin typeface="Arial"/>
              </a:rPr>
              <a:t>+ </a:t>
            </a:r>
            <a:r>
              <a:rPr lang="ru-RU" sz="750" b="1" dirty="0" err="1">
                <a:solidFill>
                  <a:srgbClr val="1E2228"/>
                </a:solidFill>
                <a:latin typeface="Arial"/>
              </a:rPr>
              <a:t>Системи</a:t>
            </a:r>
            <a:r>
              <a:rPr lang="ru-RU" sz="750" b="1" dirty="0">
                <a:solidFill>
                  <a:srgbClr val="1E2228"/>
                </a:solidFill>
                <a:latin typeface="Arial"/>
              </a:rPr>
              <a:t> </a:t>
            </a:r>
            <a:r>
              <a:rPr lang="ru-RU" sz="750" b="1" dirty="0" err="1">
                <a:solidFill>
                  <a:srgbClr val="1E2228"/>
                </a:solidFill>
                <a:latin typeface="Arial"/>
              </a:rPr>
              <a:t>керування</a:t>
            </a:r>
            <a:endParaRPr sz="750" b="1" dirty="0">
              <a:solidFill>
                <a:srgbClr val="1E2228"/>
              </a:solidFill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534406" y="9665208"/>
            <a:ext cx="1616202" cy="384048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644134" y="9665208"/>
            <a:ext cx="143332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>
                <a:solidFill>
                  <a:srgbClr val="F2530A"/>
                </a:solidFill>
                <a:latin typeface="Arial"/>
              </a:rPr>
              <a:t>+ </a:t>
            </a:r>
            <a:r>
              <a:rPr sz="750" b="1">
                <a:solidFill>
                  <a:srgbClr val="1E2228"/>
                </a:solidFill>
                <a:latin typeface="Arial"/>
              </a:rPr>
              <a:t>Колір на замовлення</a:t>
            </a:r>
          </a:p>
        </p:txBody>
      </p:sp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529E8C39-D9C2-6CB3-49F1-3D01118135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7773204"/>
            <a:ext cx="1090894" cy="821352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606C5B2C-CBD6-A528-5508-A42DFE4DA3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739" y="7919330"/>
            <a:ext cx="408974" cy="5068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8E959E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8E959E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06</a:t>
            </a:r>
            <a:r>
              <a:rPr sz="750" b="1" spc="200">
                <a:solidFill>
                  <a:srgbClr val="8E959E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8E959E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8E959E"/>
                </a:solidFill>
                <a:latin typeface="Arial"/>
              </a:rPr>
              <a:t>СИСТЕМА ЛІСОВОГО КРАНА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05 — ВАРТІСТЬ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98448"/>
            <a:ext cx="6739128" cy="1036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1E2228"/>
                </a:solidFill>
                <a:latin typeface="Arial"/>
              </a:rPr>
              <a:t>ОДНА ЦІНА.</a:t>
            </a:r>
          </a:p>
          <a:p>
            <a:pPr algn="l">
              <a:lnSpc>
                <a:spcPct val="92000"/>
              </a:lnSpc>
            </a:pPr>
            <a:r>
              <a:rPr sz="3100" b="1" spc="-50">
                <a:solidFill>
                  <a:srgbClr val="F2530A"/>
                </a:solidFill>
                <a:latin typeface="Arial"/>
              </a:rPr>
              <a:t>ПОВНИЙ КОМПЛЕКТ.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31720"/>
            <a:ext cx="6739128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46888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8E959E"/>
                </a:solidFill>
                <a:latin typeface="Arial"/>
              </a:rPr>
              <a:t>ПОЗИЦІЯ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688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650" b="1" spc="200">
                <a:solidFill>
                  <a:srgbClr val="8E959E"/>
                </a:solidFill>
                <a:latin typeface="Arial"/>
              </a:rPr>
              <a:t>К-СТЬ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468880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200">
                <a:solidFill>
                  <a:srgbClr val="8E959E"/>
                </a:solidFill>
                <a:latin typeface="Arial"/>
              </a:rPr>
              <a:t>ЦІНА, 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2743200"/>
            <a:ext cx="637336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282549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F2530A"/>
                </a:solidFill>
                <a:latin typeface="Arial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16352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E2228"/>
                </a:solidFill>
                <a:latin typeface="Arial"/>
              </a:rPr>
              <a:t>Кран-маніпулятор BMF 720</a:t>
            </a:r>
          </a:p>
          <a:p>
            <a:pPr algn="l"/>
            <a:r>
              <a:rPr sz="750" b="0">
                <a:solidFill>
                  <a:srgbClr val="5B626B"/>
                </a:solidFill>
                <a:latin typeface="Arial"/>
              </a:rPr>
              <a:t>у комплекті з ротатором 4 т і захватом 0,24 м²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2549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>
                <a:solidFill>
                  <a:srgbClr val="5B626B"/>
                </a:solidFill>
                <a:latin typeface="Arial"/>
              </a:rPr>
              <a:t>1</a:t>
            </a:r>
          </a:p>
        </p:txBody>
      </p:sp>
      <p:sp>
        <p:nvSpPr>
          <p:cNvPr id="21" name="fld_line_1"/>
          <p:cNvSpPr txBox="1"/>
          <p:nvPr/>
        </p:nvSpPr>
        <p:spPr>
          <a:xfrm>
            <a:off x="5120640" y="2825496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1E2228"/>
                </a:solidFill>
                <a:latin typeface="Arial"/>
              </a:rPr>
              <a:t>686 000 ₴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3291840"/>
            <a:ext cx="637336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337413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F2530A"/>
                </a:solidFill>
                <a:latin typeface="Arial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64992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E2228"/>
                </a:solidFill>
                <a:latin typeface="Arial"/>
              </a:rPr>
              <a:t>Платформа з аутригерами</a:t>
            </a:r>
          </a:p>
          <a:p>
            <a:pPr algn="l"/>
            <a:r>
              <a:rPr sz="750" b="0">
                <a:solidFill>
                  <a:srgbClr val="5B626B"/>
                </a:solidFill>
                <a:latin typeface="Arial"/>
              </a:rPr>
              <a:t>опорні лапи, РВТ, з’єднувальні болти, фланці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37413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>
                <a:solidFill>
                  <a:srgbClr val="5B626B"/>
                </a:solidFill>
                <a:latin typeface="Arial"/>
              </a:rPr>
              <a:t>1</a:t>
            </a:r>
          </a:p>
        </p:txBody>
      </p:sp>
      <p:sp>
        <p:nvSpPr>
          <p:cNvPr id="26" name="fld_line_2"/>
          <p:cNvSpPr txBox="1"/>
          <p:nvPr/>
        </p:nvSpPr>
        <p:spPr>
          <a:xfrm>
            <a:off x="5120640" y="3374136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1E2228"/>
                </a:solidFill>
                <a:latin typeface="Arial"/>
              </a:rPr>
              <a:t>155 000 ₴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3840480"/>
            <a:ext cx="637336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392277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F2530A"/>
                </a:solidFill>
                <a:latin typeface="Arial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913632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E2228"/>
                </a:solidFill>
                <a:latin typeface="Arial"/>
              </a:rPr>
              <a:t>Гідравлічний бак в зборі</a:t>
            </a:r>
          </a:p>
          <a:p>
            <a:pPr algn="l"/>
            <a:r>
              <a:rPr sz="750" b="0">
                <a:solidFill>
                  <a:srgbClr val="5B626B"/>
                </a:solidFill>
                <a:latin typeface="Arial"/>
              </a:rPr>
              <a:t>живлення робочої системи крана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9227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>
                <a:solidFill>
                  <a:srgbClr val="5B626B"/>
                </a:solidFill>
                <a:latin typeface="Arial"/>
              </a:rPr>
              <a:t>1</a:t>
            </a:r>
          </a:p>
        </p:txBody>
      </p:sp>
      <p:sp>
        <p:nvSpPr>
          <p:cNvPr id="31" name="fld_line_3"/>
          <p:cNvSpPr txBox="1"/>
          <p:nvPr/>
        </p:nvSpPr>
        <p:spPr>
          <a:xfrm>
            <a:off x="5120640" y="3922776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1E2228"/>
                </a:solidFill>
                <a:latin typeface="Arial"/>
              </a:rPr>
              <a:t>18 500 ₴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" y="4389120"/>
            <a:ext cx="637336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4360" y="44714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F2530A"/>
                </a:solidFill>
                <a:latin typeface="Arial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462272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E2228"/>
                </a:solidFill>
                <a:latin typeface="Arial"/>
              </a:rPr>
              <a:t>Місце оператора</a:t>
            </a:r>
          </a:p>
          <a:p>
            <a:pPr algn="l"/>
            <a:r>
              <a:rPr sz="750" b="0">
                <a:solidFill>
                  <a:srgbClr val="5B626B"/>
                </a:solidFill>
                <a:latin typeface="Arial"/>
              </a:rPr>
              <a:t>ергономічне робоче місце з органами керування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4714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>
                <a:solidFill>
                  <a:srgbClr val="5B626B"/>
                </a:solidFill>
                <a:latin typeface="Arial"/>
              </a:rPr>
              <a:t>1</a:t>
            </a:r>
          </a:p>
        </p:txBody>
      </p:sp>
      <p:sp>
        <p:nvSpPr>
          <p:cNvPr id="36" name="fld_line_4"/>
          <p:cNvSpPr txBox="1"/>
          <p:nvPr/>
        </p:nvSpPr>
        <p:spPr>
          <a:xfrm>
            <a:off x="5120640" y="4471416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1E2228"/>
                </a:solidFill>
                <a:latin typeface="Arial"/>
              </a:rPr>
              <a:t>27 750 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4983480"/>
            <a:ext cx="6373368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94360" y="5184648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 spc="250">
                <a:solidFill>
                  <a:srgbClr val="5B626B"/>
                </a:solidFill>
                <a:latin typeface="Arial"/>
              </a:rPr>
              <a:t>РАЗОМ</a:t>
            </a:r>
          </a:p>
          <a:p>
            <a:pPr algn="l"/>
            <a:r>
              <a:rPr sz="800" b="0">
                <a:solidFill>
                  <a:srgbClr val="8E959E"/>
                </a:solidFill>
                <a:latin typeface="Arial"/>
              </a:rPr>
              <a:t>комплект під ключ</a:t>
            </a:r>
          </a:p>
        </p:txBody>
      </p:sp>
      <p:sp>
        <p:nvSpPr>
          <p:cNvPr id="39" name="fld_total"/>
          <p:cNvSpPr txBox="1"/>
          <p:nvPr/>
        </p:nvSpPr>
        <p:spPr>
          <a:xfrm>
            <a:off x="2560320" y="5056632"/>
            <a:ext cx="4407408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4200" b="1" spc="-100">
                <a:solidFill>
                  <a:srgbClr val="F2530A"/>
                </a:solidFill>
                <a:latin typeface="Arial"/>
              </a:rPr>
              <a:t>887 250 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6263640"/>
            <a:ext cx="1347826" cy="274320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" y="6263640"/>
            <a:ext cx="134782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50" b="1" spc="140">
                <a:solidFill>
                  <a:srgbClr val="5B626B"/>
                </a:solidFill>
                <a:latin typeface="Arial"/>
              </a:rPr>
              <a:t>З УРАХУВАННЯМ ПДВ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50746" y="6263640"/>
            <a:ext cx="1479499" cy="274320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50746" y="6263640"/>
            <a:ext cx="1479499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50" b="1" spc="140">
                <a:solidFill>
                  <a:srgbClr val="5B626B"/>
                </a:solidFill>
                <a:latin typeface="Arial"/>
              </a:rPr>
              <a:t>БЕЗ МОНТАЖНИХ РОБІТ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21685" y="6263640"/>
            <a:ext cx="1874520" cy="274320"/>
          </a:xfrm>
          <a:prstGeom prst="rect">
            <a:avLst/>
          </a:prstGeom>
          <a:noFill/>
          <a:ln w="9525">
            <a:solidFill>
              <a:srgbClr val="CD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fld_price_date"/>
          <p:cNvSpPr txBox="1"/>
          <p:nvPr/>
        </p:nvSpPr>
        <p:spPr>
          <a:xfrm>
            <a:off x="3421685" y="6263640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50" b="1" spc="140">
                <a:solidFill>
                  <a:srgbClr val="5B626B"/>
                </a:solidFill>
                <a:latin typeface="Arial"/>
              </a:rPr>
              <a:t>ЦІНИ СТАНОМ НА 24.08.2025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6720840"/>
            <a:ext cx="6739128" cy="566928"/>
          </a:xfrm>
          <a:prstGeom prst="rect">
            <a:avLst/>
          </a:prstGeom>
          <a:solidFill>
            <a:srgbClr val="F2530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11480" y="6720840"/>
            <a:ext cx="54864" cy="566928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" y="672084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sz="800" b="1" spc="150">
                <a:solidFill>
                  <a:srgbClr val="F2530A"/>
                </a:solidFill>
                <a:latin typeface="Arial"/>
              </a:rPr>
              <a:t>КУРС EUR  </a:t>
            </a:r>
            <a:r>
              <a:rPr sz="800" b="0">
                <a:solidFill>
                  <a:srgbClr val="1E2228"/>
                </a:solidFill>
                <a:latin typeface="Arial"/>
              </a:rPr>
              <a:t>Ціна прив’язана до курсу EUR і може переглядатись у разі його зростання. Рекомендуємо зафіксувати комплект договором.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754380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20">
                <a:solidFill>
                  <a:srgbClr val="5B626B"/>
                </a:solidFill>
                <a:latin typeface="Arial"/>
              </a:rPr>
              <a:t>// УМОВИ СПІВПРАЦІ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11480" y="7772400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11480" y="7863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00">
                <a:solidFill>
                  <a:srgbClr val="F2530A"/>
                </a:solidFill>
                <a:latin typeface="Arial"/>
              </a:rPr>
              <a:t>T-01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78638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1" spc="120">
                <a:solidFill>
                  <a:srgbClr val="1E2228"/>
                </a:solidFill>
                <a:latin typeface="Arial"/>
              </a:rPr>
              <a:t>ДОКУМЕНТАЦІЯ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68880" y="7854696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5B626B"/>
                </a:solidFill>
                <a:latin typeface="Arial"/>
              </a:rPr>
              <a:t>Договір з усіма ключовими умовами; повний пакет документів разом із товаром.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11480" y="8247888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11480" y="83393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00">
                <a:solidFill>
                  <a:srgbClr val="F2530A"/>
                </a:solidFill>
                <a:latin typeface="Arial"/>
              </a:rPr>
              <a:t>T-02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833932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1" spc="120">
                <a:solidFill>
                  <a:srgbClr val="1E2228"/>
                </a:solidFill>
                <a:latin typeface="Arial"/>
              </a:rPr>
              <a:t>ТЕРМІНИ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68880" y="833018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5B626B"/>
                </a:solidFill>
                <a:latin typeface="Arial"/>
              </a:rPr>
              <a:t>Під замовлення — до 60 календарних днів з моменту підписання договору.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11480" y="8723376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11480" y="8814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00">
                <a:solidFill>
                  <a:srgbClr val="F2530A"/>
                </a:solidFill>
                <a:latin typeface="Arial"/>
              </a:rPr>
              <a:t>T-03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" y="881481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1" spc="120">
                <a:solidFill>
                  <a:srgbClr val="1E2228"/>
                </a:solidFill>
                <a:latin typeface="Arial"/>
              </a:rPr>
              <a:t>ОПЛАТА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68880" y="880567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5B626B"/>
                </a:solidFill>
                <a:latin typeface="Arial"/>
              </a:rPr>
              <a:t>Повна оплата, частинами за договором або кредитні умови.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11480" y="9198864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11480" y="92903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00">
                <a:solidFill>
                  <a:srgbClr val="F2530A"/>
                </a:solidFill>
                <a:latin typeface="Arial"/>
              </a:rPr>
              <a:t>T-04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" y="929030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1" spc="120">
                <a:solidFill>
                  <a:srgbClr val="1E2228"/>
                </a:solidFill>
                <a:latin typeface="Arial"/>
              </a:rPr>
              <a:t>ДОСТАВКА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0" y="92811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5B626B"/>
                </a:solidFill>
                <a:latin typeface="Arial"/>
              </a:rPr>
              <a:t>Здійснюється за рахунок покупця.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411480" y="9674352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11480" y="97657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00">
                <a:solidFill>
                  <a:srgbClr val="F2530A"/>
                </a:solidFill>
                <a:latin typeface="Arial"/>
              </a:rPr>
              <a:t>T-05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" y="97657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1" spc="120">
                <a:solidFill>
                  <a:srgbClr val="1E2228"/>
                </a:solidFill>
                <a:latin typeface="Arial"/>
              </a:rPr>
              <a:t>БОНУСИ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68880" y="975664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>
                <a:solidFill>
                  <a:srgbClr val="5B626B"/>
                </a:solidFill>
                <a:latin typeface="Arial"/>
              </a:rPr>
              <a:t>Від 2 кранів BMF — персональна система знижок.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8E959E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8E959E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07</a:t>
            </a:r>
            <a:r>
              <a:rPr sz="750" b="1" spc="200">
                <a:solidFill>
                  <a:srgbClr val="8E959E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8E959E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8E959E"/>
                </a:solidFill>
                <a:latin typeface="Arial"/>
              </a:rPr>
              <a:t>BMF · ЕСТОНІЯ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06 — ВИРОБНИК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298448"/>
            <a:ext cx="6739128" cy="975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2000"/>
              </a:lnSpc>
            </a:pPr>
            <a:r>
              <a:rPr sz="2900" b="1" spc="-50">
                <a:solidFill>
                  <a:srgbClr val="1E2228"/>
                </a:solidFill>
                <a:latin typeface="Arial"/>
              </a:rPr>
              <a:t>ЗВАРЕНО РОБОТАМИ.</a:t>
            </a:r>
          </a:p>
          <a:p>
            <a:pPr algn="l">
              <a:lnSpc>
                <a:spcPct val="92000"/>
              </a:lnSpc>
            </a:pPr>
            <a:r>
              <a:rPr sz="2900" b="1" spc="-50">
                <a:solidFill>
                  <a:srgbClr val="F2530A"/>
                </a:solidFill>
                <a:latin typeface="Arial"/>
              </a:rPr>
              <a:t>ПЕРЕВІРЕНО ЛІСОМ.</a:t>
            </a:r>
          </a:p>
        </p:txBody>
      </p:sp>
      <p:pic>
        <p:nvPicPr>
          <p:cNvPr id="13" name="Picture 12" descr="fac7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286000"/>
            <a:ext cx="6739128" cy="2606040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>
            <a:off x="411480" y="2286000"/>
            <a:ext cx="18288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1480" y="2286000"/>
            <a:ext cx="0" cy="18288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967728" y="2286000"/>
            <a:ext cx="18288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286000"/>
            <a:ext cx="0" cy="18288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11480" y="4892040"/>
            <a:ext cx="18288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11480" y="4709160"/>
            <a:ext cx="0" cy="18288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967728" y="4892040"/>
            <a:ext cx="18288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150608" y="4709160"/>
            <a:ext cx="0" cy="18288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48640" y="2423160"/>
            <a:ext cx="169164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423160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650" b="1" spc="150">
                <a:solidFill>
                  <a:srgbClr val="F2530A"/>
                </a:solidFill>
                <a:latin typeface="Arial"/>
              </a:rPr>
              <a:t>● </a:t>
            </a:r>
            <a:r>
              <a:rPr sz="650" b="1" spc="150">
                <a:solidFill>
                  <a:srgbClr val="1E2228"/>
                </a:solidFill>
                <a:latin typeface="Arial"/>
              </a:rPr>
              <a:t>ROBOT WELDING · LIVE</a:t>
            </a:r>
          </a:p>
        </p:txBody>
      </p:sp>
      <p:pic>
        <p:nvPicPr>
          <p:cNvPr id="24" name="Picture 23" descr="fa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983480"/>
            <a:ext cx="3319272" cy="1508760"/>
          </a:xfrm>
          <a:prstGeom prst="rect">
            <a:avLst/>
          </a:prstGeom>
        </p:spPr>
      </p:pic>
      <p:pic>
        <p:nvPicPr>
          <p:cNvPr id="25" name="Picture 24" descr="fa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336" y="4983480"/>
            <a:ext cx="3319272" cy="1508760"/>
          </a:xfrm>
          <a:prstGeom prst="rect">
            <a:avLst/>
          </a:prstGeom>
        </p:spPr>
      </p:pic>
      <p:cxnSp>
        <p:nvCxnSpPr>
          <p:cNvPr id="26" name="Connector 25"/>
          <p:cNvCxnSpPr/>
          <p:nvPr/>
        </p:nvCxnSpPr>
        <p:spPr>
          <a:xfrm>
            <a:off x="411480" y="6720840"/>
            <a:ext cx="1274674" cy="0"/>
          </a:xfrm>
          <a:prstGeom prst="line">
            <a:avLst/>
          </a:prstGeom>
          <a:ln w="1905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11480" y="681228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spc="-50">
                <a:solidFill>
                  <a:srgbClr val="1E2228"/>
                </a:solidFill>
                <a:latin typeface="Arial"/>
              </a:rPr>
              <a:t>2001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717804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600" b="1" spc="100">
                <a:solidFill>
                  <a:srgbClr val="5B626B"/>
                </a:solidFill>
                <a:latin typeface="Arial"/>
              </a:rPr>
              <a:t>РІК ЗАСНУВАННЯ BMF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777594" y="6720840"/>
            <a:ext cx="1274673" cy="0"/>
          </a:xfrm>
          <a:prstGeom prst="line">
            <a:avLst/>
          </a:prstGeom>
          <a:ln w="1905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77594" y="681228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spc="-50">
                <a:solidFill>
                  <a:srgbClr val="1E2228"/>
                </a:solidFill>
                <a:latin typeface="Arial"/>
              </a:rPr>
              <a:t>13 900 м²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77594" y="717804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600" b="1" spc="100">
                <a:solidFill>
                  <a:srgbClr val="5B626B"/>
                </a:solidFill>
                <a:latin typeface="Arial"/>
              </a:rPr>
              <a:t>ВИРОБНИЦТВА В ЕСТОНІЇ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143707" y="6720840"/>
            <a:ext cx="1274674" cy="0"/>
          </a:xfrm>
          <a:prstGeom prst="line">
            <a:avLst/>
          </a:prstGeom>
          <a:ln w="1905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143707" y="681228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spc="-50">
                <a:solidFill>
                  <a:srgbClr val="1E2228"/>
                </a:solidFill>
                <a:latin typeface="Arial"/>
              </a:rPr>
              <a:t>80%+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43707" y="717804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600" b="1" spc="100">
                <a:solidFill>
                  <a:srgbClr val="5B626B"/>
                </a:solidFill>
                <a:latin typeface="Arial"/>
              </a:rPr>
              <a:t>ЗВАРЮВАННЯ РОБОТАМИ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09821" y="6720840"/>
            <a:ext cx="1274673" cy="0"/>
          </a:xfrm>
          <a:prstGeom prst="line">
            <a:avLst/>
          </a:prstGeom>
          <a:ln w="1905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09821" y="681228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spc="-50">
                <a:solidFill>
                  <a:srgbClr val="1E2228"/>
                </a:solidFill>
                <a:latin typeface="Arial"/>
              </a:rPr>
              <a:t>20+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9821" y="717804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600" b="1" spc="100">
                <a:solidFill>
                  <a:srgbClr val="5B626B"/>
                </a:solidFill>
                <a:latin typeface="Arial"/>
              </a:rPr>
              <a:t>КРАЇН З ДИЛЕРАМИ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875934" y="6720840"/>
            <a:ext cx="1274674" cy="0"/>
          </a:xfrm>
          <a:prstGeom prst="line">
            <a:avLst/>
          </a:prstGeom>
          <a:ln w="19050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875934" y="681228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spc="-50">
                <a:solidFill>
                  <a:srgbClr val="1E2228"/>
                </a:solidFill>
                <a:latin typeface="Arial"/>
              </a:rPr>
              <a:t>~1000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75934" y="7178040"/>
            <a:ext cx="1274674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600" b="1" spc="100">
                <a:solidFill>
                  <a:srgbClr val="5B626B"/>
                </a:solidFill>
                <a:latin typeface="Arial"/>
              </a:rPr>
              <a:t>КРАНІВ НА РІК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7726680"/>
            <a:ext cx="6739128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2530A"/>
                </a:solidFill>
                <a:latin typeface="Arial"/>
              </a:rPr>
              <a:t>“</a:t>
            </a:r>
            <a:r>
              <a:rPr sz="1150" b="1">
                <a:solidFill>
                  <a:srgbClr val="1E2228"/>
                </a:solidFill>
                <a:latin typeface="Arial"/>
              </a:rPr>
              <a:t>Техніка для щоденної важкої роботи — там, де довговічність, зручність і стабільна якість важать понад усе.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850392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20">
                <a:solidFill>
                  <a:srgbClr val="5B626B"/>
                </a:solidFill>
                <a:latin typeface="Arial"/>
              </a:rPr>
              <a:t>// В ПОЛІ · КЛІЄНТИ BMF</a:t>
            </a:r>
          </a:p>
        </p:txBody>
      </p:sp>
      <p:pic>
        <p:nvPicPr>
          <p:cNvPr id="43" name="Picture 42" descr="g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8732520"/>
            <a:ext cx="1616202" cy="1417320"/>
          </a:xfrm>
          <a:prstGeom prst="rect">
            <a:avLst/>
          </a:prstGeom>
        </p:spPr>
      </p:pic>
      <p:pic>
        <p:nvPicPr>
          <p:cNvPr id="46" name="Picture 45" descr="g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9122" y="8732520"/>
            <a:ext cx="1616202" cy="1417320"/>
          </a:xfrm>
          <a:prstGeom prst="rect">
            <a:avLst/>
          </a:prstGeom>
        </p:spPr>
      </p:pic>
      <p:pic>
        <p:nvPicPr>
          <p:cNvPr id="49" name="Picture 48" descr="g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6764" y="8732520"/>
            <a:ext cx="1616202" cy="1417320"/>
          </a:xfrm>
          <a:prstGeom prst="rect">
            <a:avLst/>
          </a:prstGeom>
        </p:spPr>
      </p:pic>
      <p:pic>
        <p:nvPicPr>
          <p:cNvPr id="52" name="Picture 51" descr="g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4406" y="8732520"/>
            <a:ext cx="1616202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 descr="p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Picture 2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"/>
            <a:ext cx="602681" cy="237744"/>
          </a:xfrm>
          <a:prstGeom prst="rect">
            <a:avLst/>
          </a:prstGeom>
        </p:spPr>
      </p:pic>
      <p:sp>
        <p:nvSpPr>
          <p:cNvPr id="4" name="fld_kp_header"/>
          <p:cNvSpPr txBox="1"/>
          <p:nvPr/>
        </p:nvSpPr>
        <p:spPr>
          <a:xfrm>
            <a:off x="1234440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 spc="150">
                <a:solidFill>
                  <a:srgbClr val="8E959E"/>
                </a:solidFill>
                <a:latin typeface="Arial"/>
              </a:rPr>
              <a:t>КП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№ 0001</a:t>
            </a:r>
            <a:r>
              <a:rPr sz="700" b="1" spc="150">
                <a:solidFill>
                  <a:srgbClr val="8E959E"/>
                </a:solidFill>
                <a:latin typeface="Arial"/>
              </a:rPr>
              <a:t>  //  BMF 720  //  </a:t>
            </a:r>
            <a:r>
              <a:rPr sz="700" b="1" spc="150">
                <a:solidFill>
                  <a:srgbClr val="5B626B"/>
                </a:solidFill>
                <a:latin typeface="Arial"/>
              </a:rPr>
              <a:t>06.10.2026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365760"/>
            <a:ext cx="175564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 spc="200">
                <a:solidFill>
                  <a:srgbClr val="F2530A"/>
                </a:solidFill>
                <a:latin typeface="Arial"/>
              </a:rPr>
              <a:t>08</a:t>
            </a:r>
            <a:r>
              <a:rPr sz="750" b="1" spc="200">
                <a:solidFill>
                  <a:srgbClr val="8E959E"/>
                </a:solidFill>
                <a:latin typeface="Arial"/>
              </a:rPr>
              <a:t>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713232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699516"/>
            <a:ext cx="548640" cy="27432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411480" y="10259568"/>
            <a:ext cx="67391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0332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150">
                <a:solidFill>
                  <a:srgbClr val="8E959E"/>
                </a:solidFill>
                <a:latin typeface="Arial"/>
              </a:rPr>
              <a:t>BMF.RV.UA  ·  (+380) 67 363 0629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0332720"/>
            <a:ext cx="321868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650" b="1" spc="150">
                <a:solidFill>
                  <a:srgbClr val="8E959E"/>
                </a:solidFill>
                <a:latin typeface="Arial"/>
              </a:rPr>
              <a:t>ВАШ ЛІС — НАШІ ТЕХНОЛОГІЇ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846320"/>
            <a:ext cx="6739128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3600" b="1" spc="-80" dirty="0">
                <a:solidFill>
                  <a:srgbClr val="1E2228"/>
                </a:solidFill>
                <a:latin typeface="Arial"/>
              </a:rPr>
              <a:t>ГОТОВІ ДО</a:t>
            </a:r>
          </a:p>
          <a:p>
            <a:pPr algn="l">
              <a:lnSpc>
                <a:spcPct val="90000"/>
              </a:lnSpc>
            </a:pPr>
            <a:r>
              <a:rPr sz="3600" b="1" spc="-80" dirty="0">
                <a:solidFill>
                  <a:srgbClr val="F2530A"/>
                </a:solidFill>
                <a:latin typeface="Arial"/>
              </a:rPr>
              <a:t>РОБОТИ?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03504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 spc="220">
                <a:solidFill>
                  <a:srgbClr val="F2530A"/>
                </a:solidFill>
                <a:latin typeface="Arial"/>
              </a:rPr>
              <a:t>// ВІД ЗАЯВКИ ДО РОБОТИ В ЛІСІ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309360"/>
            <a:ext cx="161620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9496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2530A"/>
                </a:solidFill>
                <a:latin typeface="Arial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1922" y="63825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200" b="1">
                <a:solidFill>
                  <a:srgbClr val="8E959E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" y="6675120"/>
            <a:ext cx="143332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spc="120">
                <a:solidFill>
                  <a:srgbClr val="1E2228"/>
                </a:solidFill>
                <a:latin typeface="Arial"/>
              </a:rPr>
              <a:t>ЗАЯВКА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" y="6885432"/>
            <a:ext cx="143332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0">
                <a:solidFill>
                  <a:srgbClr val="5B626B"/>
                </a:solidFill>
                <a:latin typeface="Arial"/>
              </a:rPr>
              <a:t>Узгоджуємо комплект і опції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19122" y="6309360"/>
            <a:ext cx="161620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47138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2530A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9564" y="63825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200" b="1">
                <a:solidFill>
                  <a:srgbClr val="8E959E"/>
                </a:solidFill>
                <a:latin typeface="Arial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7138" y="6675120"/>
            <a:ext cx="143332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spc="120">
                <a:solidFill>
                  <a:srgbClr val="1E2228"/>
                </a:solidFill>
                <a:latin typeface="Arial"/>
              </a:rPr>
              <a:t>ДОГОВІР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7138" y="6885432"/>
            <a:ext cx="143332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0">
                <a:solidFill>
                  <a:srgbClr val="5B626B"/>
                </a:solidFill>
                <a:latin typeface="Arial"/>
              </a:rPr>
              <a:t>Фіксуємо ціну та умови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26764" y="6309360"/>
            <a:ext cx="161620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54780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2530A"/>
                </a:solidFill>
                <a:latin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7206" y="63825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200" b="1">
                <a:solidFill>
                  <a:srgbClr val="8E959E"/>
                </a:solidFill>
                <a:latin typeface="Arial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4780" y="6675120"/>
            <a:ext cx="143332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spc="120">
                <a:solidFill>
                  <a:srgbClr val="1E2228"/>
                </a:solidFill>
                <a:latin typeface="Arial"/>
              </a:rPr>
              <a:t>ВИГОТОВЛЕННЯ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4780" y="6885432"/>
            <a:ext cx="143332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0">
                <a:solidFill>
                  <a:srgbClr val="5B626B"/>
                </a:solidFill>
                <a:latin typeface="Arial"/>
              </a:rPr>
              <a:t>До 60 днів під замовлення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4406" y="6309360"/>
            <a:ext cx="161620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2422" y="63825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2530A"/>
                </a:solidFill>
                <a:latin typeface="Arial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2422" y="6675120"/>
            <a:ext cx="143332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spc="120">
                <a:solidFill>
                  <a:srgbClr val="1E2228"/>
                </a:solidFill>
                <a:latin typeface="Arial"/>
              </a:rPr>
              <a:t>ПЕРЕДАЧА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2422" y="6885432"/>
            <a:ext cx="143332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0">
                <a:solidFill>
                  <a:srgbClr val="5B626B"/>
                </a:solidFill>
                <a:latin typeface="Arial"/>
              </a:rPr>
              <a:t>Документи й запуск у роботу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7452360"/>
            <a:ext cx="6739128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CDD2D8"/>
            </a:solidFill>
          </a:ln>
          <a:effectLst>
            <a:outerShdw blurRad="165100" dist="38100" dir="5400000" algn="t" rotWithShape="0">
              <a:srgbClr val="1E24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1480" y="7452360"/>
            <a:ext cx="6739128" cy="45720"/>
          </a:xfrm>
          <a:prstGeom prst="rect">
            <a:avLst/>
          </a:prstGeom>
          <a:solidFill>
            <a:srgbClr val="F2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772668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ТЕЛЕФОН</a:t>
            </a:r>
          </a:p>
        </p:txBody>
      </p:sp>
      <p:sp>
        <p:nvSpPr>
          <p:cNvPr id="35" name="fld_contact_0"/>
          <p:cNvSpPr txBox="1"/>
          <p:nvPr/>
        </p:nvSpPr>
        <p:spPr>
          <a:xfrm>
            <a:off x="640080" y="794613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E2228"/>
                </a:solidFill>
                <a:latin typeface="Arial"/>
              </a:rPr>
              <a:t>(+380) 67 363 0629</a:t>
            </a:r>
          </a:p>
          <a:p>
            <a:pPr algn="l">
              <a:lnSpc>
                <a:spcPct val="115000"/>
              </a:lnSpc>
            </a:pPr>
            <a:r>
              <a:rPr sz="950" b="1">
                <a:solidFill>
                  <a:srgbClr val="1E2228"/>
                </a:solidFill>
                <a:latin typeface="Arial"/>
              </a:rPr>
              <a:t>(+380) 68 177 5997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772668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E-MAIL</a:t>
            </a:r>
          </a:p>
        </p:txBody>
      </p:sp>
      <p:sp>
        <p:nvSpPr>
          <p:cNvPr id="37" name="fld_contact_1"/>
          <p:cNvSpPr txBox="1"/>
          <p:nvPr/>
        </p:nvSpPr>
        <p:spPr>
          <a:xfrm>
            <a:off x="2834640" y="794613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228"/>
                </a:solidFill>
                <a:latin typeface="Arial"/>
              </a:rPr>
              <a:t>debeliy78@ukr.net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772668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САЙТ</a:t>
            </a:r>
          </a:p>
        </p:txBody>
      </p:sp>
      <p:sp>
        <p:nvSpPr>
          <p:cNvPr id="39" name="fld_contact_2"/>
          <p:cNvSpPr txBox="1"/>
          <p:nvPr/>
        </p:nvSpPr>
        <p:spPr>
          <a:xfrm>
            <a:off x="5029200" y="794613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228"/>
                </a:solidFill>
                <a:latin typeface="Arial"/>
              </a:rPr>
              <a:t>bmf.rv.ua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228"/>
                </a:solidFill>
                <a:latin typeface="Arial"/>
              </a:rPr>
              <a:t>bmf.ee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868680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АДРЕСА</a:t>
            </a:r>
          </a:p>
        </p:txBody>
      </p:sp>
      <p:sp>
        <p:nvSpPr>
          <p:cNvPr id="41" name="fld_contact_3"/>
          <p:cNvSpPr txBox="1"/>
          <p:nvPr/>
        </p:nvSpPr>
        <p:spPr>
          <a:xfrm>
            <a:off x="640080" y="890625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228"/>
                </a:solidFill>
                <a:latin typeface="Arial"/>
              </a:rPr>
              <a:t>вул. Заводська 5, м. Сарни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228"/>
                </a:solidFill>
                <a:latin typeface="Arial"/>
              </a:rPr>
              <a:t>Рівненська обл., 34500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868680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СОЦМЕРЕЖІ</a:t>
            </a:r>
          </a:p>
        </p:txBody>
      </p:sp>
      <p:sp>
        <p:nvSpPr>
          <p:cNvPr id="43" name="fld_contact_4"/>
          <p:cNvSpPr txBox="1"/>
          <p:nvPr/>
        </p:nvSpPr>
        <p:spPr>
          <a:xfrm>
            <a:off x="2834640" y="890625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228"/>
                </a:solidFill>
                <a:latin typeface="Arial"/>
              </a:rPr>
              <a:t>TikTok @bmf.ua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228"/>
                </a:solidFill>
                <a:latin typeface="Arial"/>
              </a:rPr>
              <a:t>Instagram @bmf.rv.ua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868680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650" b="1" spc="200">
                <a:solidFill>
                  <a:srgbClr val="F2530A"/>
                </a:solidFill>
                <a:latin typeface="Arial"/>
              </a:rPr>
              <a:t>ВИРОБНИЦТВО</a:t>
            </a:r>
          </a:p>
        </p:txBody>
      </p:sp>
      <p:sp>
        <p:nvSpPr>
          <p:cNvPr id="45" name="fld_contact_5"/>
          <p:cNvSpPr txBox="1"/>
          <p:nvPr/>
        </p:nvSpPr>
        <p:spPr>
          <a:xfrm>
            <a:off x="5029200" y="8906256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228"/>
                </a:solidFill>
                <a:latin typeface="Arial"/>
              </a:rPr>
              <a:t>Напівпричепи НПЛ-10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228"/>
                </a:solidFill>
                <a:latin typeface="Arial"/>
              </a:rPr>
              <a:t>100+ виготовлено в Сарнах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0080" y="9646920"/>
            <a:ext cx="6281928" cy="0"/>
          </a:xfrm>
          <a:prstGeom prst="line">
            <a:avLst/>
          </a:prstGeom>
          <a:ln w="6350">
            <a:solidFill>
              <a:srgbClr val="CDD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40080" y="97109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5B626B"/>
                </a:solidFill>
                <a:latin typeface="Arial"/>
              </a:rPr>
              <a:t>Офіційний дистриб’ютор BMF в Україні  ·  Виробник: ТОВ «ГІДМАН»</a:t>
            </a:r>
          </a:p>
        </p:txBody>
      </p:sp>
      <p:pic>
        <p:nvPicPr>
          <p:cNvPr id="48" name="Picture 47" descr="logo_FFFFF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692640"/>
            <a:ext cx="695401" cy="274320"/>
          </a:xfrm>
          <a:prstGeom prst="rect">
            <a:avLst/>
          </a:prstGeom>
        </p:spPr>
      </p:pic>
      <p:cxnSp>
        <p:nvCxnSpPr>
          <p:cNvPr id="49" name="Connector 48"/>
          <p:cNvCxnSpPr/>
          <p:nvPr/>
        </p:nvCxnSpPr>
        <p:spPr>
          <a:xfrm>
            <a:off x="182880" y="182880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82880" y="182880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7104888" y="182880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379208" y="182880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82880" y="10506456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82880" y="10232136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7104888" y="10506456"/>
            <a:ext cx="274320" cy="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379208" y="10232136"/>
            <a:ext cx="0" cy="274320"/>
          </a:xfrm>
          <a:prstGeom prst="line">
            <a:avLst/>
          </a:prstGeom>
          <a:ln w="15875">
            <a:solidFill>
              <a:srgbClr val="F253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1222</Words>
  <Application>Microsoft Office PowerPoint</Application>
  <PresentationFormat>Произвольный</PresentationFormat>
  <Paragraphs>326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2026-10-08T10:33:57Z</dcterms:modified>
  <cp:category/>
</cp:coreProperties>
</file>