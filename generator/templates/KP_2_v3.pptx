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30" d="100"/>
          <a:sy n="130" d="100"/>
        </p:scale>
        <p:origin x="730" y="-16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51" name="bmf_wordmark" descr="v2_bmf_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5" y="2855038"/>
            <a:ext cx="2883606" cy="1471697"/>
          </a:xfrm>
          <a:prstGeom prst="rect">
            <a:avLst/>
          </a:prstGeom>
        </p:spPr>
      </p:pic>
      <p:pic>
        <p:nvPicPr>
          <p:cNvPr id="19" name="model_outline" descr="p1_7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160520"/>
            <a:ext cx="5262372" cy="227685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5760"/>
            <a:ext cx="741761" cy="292608"/>
          </a:xfrm>
          <a:prstGeom prst="rect">
            <a:avLst/>
          </a:prstGeom>
        </p:spPr>
      </p:pic>
      <p:sp>
        <p:nvSpPr>
          <p:cNvPr id="4" name="fld_kp_cover"/>
          <p:cNvSpPr txBox="1"/>
          <p:nvPr/>
        </p:nvSpPr>
        <p:spPr>
          <a:xfrm>
            <a:off x="3291840" y="365760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КОМЕРЦІЙНА ПРОПОЗИЦІЯ</a:t>
            </a:r>
          </a:p>
          <a:p>
            <a:pPr algn="r"/>
            <a:r>
              <a:rPr sz="750" b="1" spc="200">
                <a:solidFill>
                  <a:srgbClr val="F4F4F2"/>
                </a:solidFill>
                <a:latin typeface="Arial"/>
              </a:rPr>
              <a:t>№ 0001  ·  06.10.2026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3320" y="11887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03320" y="118872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120640" y="11887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03520" y="118872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03320" y="27889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03320" y="260604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120640" y="2788920"/>
            <a:ext cx="182880" cy="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303520" y="2606040"/>
            <a:ext cx="0" cy="182880"/>
          </a:xfrm>
          <a:prstGeom prst="line">
            <a:avLst/>
          </a:prstGeom>
          <a:ln w="1270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43984" y="1929384"/>
            <a:ext cx="118872" cy="118872"/>
          </a:xfrm>
          <a:prstGeom prst="ellipse">
            <a:avLst/>
          </a:prstGeom>
          <a:noFill/>
          <a:ln w="1270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303520" y="1417320"/>
            <a:ext cx="228600" cy="0"/>
          </a:xfrm>
          <a:prstGeom prst="line">
            <a:avLst/>
          </a:prstGeom>
          <a:ln w="6350">
            <a:solidFill>
              <a:srgbClr val="F4F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532120" y="1207008"/>
            <a:ext cx="1618488" cy="438912"/>
          </a:xfrm>
          <a:prstGeom prst="rect">
            <a:avLst/>
          </a:prstGeom>
          <a:solidFill>
            <a:srgbClr val="0B0D10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261872"/>
            <a:ext cx="15270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00" b="1" spc="150">
                <a:solidFill>
                  <a:srgbClr val="F2530A"/>
                </a:solidFill>
                <a:latin typeface="Arial"/>
              </a:rPr>
              <a:t>TARGET LOCKED</a:t>
            </a:r>
          </a:p>
          <a:p>
            <a:pPr algn="r"/>
            <a:r>
              <a:rPr sz="600" b="1" spc="150">
                <a:solidFill>
                  <a:srgbClr val="F4F4F2"/>
                </a:solidFill>
                <a:latin typeface="Arial"/>
              </a:rPr>
              <a:t>BMF 720 · 7,2 M · 60 KNM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005840"/>
            <a:ext cx="1783080" cy="246888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005840"/>
            <a:ext cx="178308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 spc="180">
                <a:solidFill>
                  <a:srgbClr val="F4F4F2"/>
                </a:solidFill>
                <a:latin typeface="Arial"/>
              </a:rPr>
              <a:t>FORESTRY CRANE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81228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3600" b="1" spc="-80">
                <a:solidFill>
                  <a:srgbClr val="F4F4F2"/>
                </a:solidFill>
                <a:latin typeface="Arial"/>
              </a:rPr>
              <a:t>БІЛЬШЕ КУБІВ.</a:t>
            </a:r>
          </a:p>
          <a:p>
            <a:pPr algn="l">
              <a:lnSpc>
                <a:spcPct val="90000"/>
              </a:lnSpc>
            </a:pPr>
            <a:r>
              <a:rPr sz="3600" b="1" spc="-80">
                <a:solidFill>
                  <a:srgbClr val="F2530A"/>
                </a:solidFill>
                <a:latin typeface="Arial"/>
              </a:rPr>
              <a:t>МЕНШЕ ЗУПИНОК.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800100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2AC"/>
                </a:solidFill>
                <a:latin typeface="Arial"/>
              </a:rPr>
              <a:t>Гідравлічний кран-маніпулятор BMF 720 з ротатором і захватом — повний комплект з платформою, аутригерами, баком і місцем оператора.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8686800"/>
            <a:ext cx="1616202" cy="868680"/>
          </a:xfrm>
          <a:prstGeom prst="rect">
            <a:avLst/>
          </a:prstGeom>
          <a:solidFill>
            <a:srgbClr val="171B21">
              <a:alpha val="85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9AA2AC"/>
                </a:solidFill>
                <a:latin typeface="Arial"/>
              </a:rPr>
              <a:t>01 / ВИЛІТ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F4F4F2"/>
                </a:solidFill>
                <a:latin typeface="Arial"/>
              </a:rPr>
              <a:t>7,2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19122" y="8686800"/>
            <a:ext cx="1616202" cy="868680"/>
          </a:xfrm>
          <a:prstGeom prst="rect">
            <a:avLst/>
          </a:prstGeom>
          <a:solidFill>
            <a:srgbClr val="171B21">
              <a:alpha val="85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19122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65426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9AA2AC"/>
                </a:solidFill>
                <a:latin typeface="Arial"/>
              </a:rPr>
              <a:t>02 / МОМЕНТ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5426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F4F4F2"/>
                </a:solidFill>
                <a:latin typeface="Arial"/>
              </a:rPr>
              <a:t>60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кНм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26764" y="8686800"/>
            <a:ext cx="1616202" cy="868680"/>
          </a:xfrm>
          <a:prstGeom prst="rect">
            <a:avLst/>
          </a:prstGeom>
          <a:solidFill>
            <a:srgbClr val="171B21">
              <a:alpha val="85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26764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3068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9AA2AC"/>
                </a:solidFill>
                <a:latin typeface="Arial"/>
              </a:rPr>
              <a:t>03 / НА 4 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3068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F4F4F2"/>
                </a:solidFill>
                <a:latin typeface="Arial"/>
              </a:rPr>
              <a:t>1100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4406" y="8686800"/>
            <a:ext cx="1616202" cy="868680"/>
          </a:xfrm>
          <a:prstGeom prst="rect">
            <a:avLst/>
          </a:prstGeom>
          <a:solidFill>
            <a:srgbClr val="171B21">
              <a:alpha val="85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34406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80710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9AA2AC"/>
                </a:solidFill>
                <a:latin typeface="Arial"/>
              </a:rPr>
              <a:t>04 / ПОВОРОТ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0710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F4F4F2"/>
                </a:solidFill>
                <a:latin typeface="Arial"/>
              </a:rPr>
              <a:t>370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°</a:t>
            </a:r>
          </a:p>
        </p:txBody>
      </p:sp>
      <p:sp>
        <p:nvSpPr>
          <p:cNvPr id="39" name="fld_client"/>
          <p:cNvSpPr txBox="1"/>
          <p:nvPr/>
        </p:nvSpPr>
        <p:spPr>
          <a:xfrm>
            <a:off x="411480" y="98298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5F6873"/>
                </a:solidFill>
                <a:latin typeface="Arial"/>
              </a:rPr>
              <a:t>ПІДГОТОВЛЕНО ДЛЯ</a:t>
            </a:r>
          </a:p>
          <a:p>
            <a:pPr algn="l"/>
            <a:r>
              <a:rPr sz="1300" b="1">
                <a:solidFill>
                  <a:srgbClr val="F4F4F2"/>
                </a:solidFill>
                <a:latin typeface="Arial"/>
              </a:rPr>
              <a:t>Назва замовника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2880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2880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104888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79208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2880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2880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104888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79208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02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01 — МАНІФЕСТ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F4F4F2"/>
                </a:solidFill>
                <a:latin typeface="Arial"/>
              </a:rPr>
              <a:t>ТЕХНІКА,</a:t>
            </a:r>
          </a:p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F4F4F2"/>
                </a:solidFill>
                <a:latin typeface="Arial"/>
              </a:rPr>
              <a:t>ЩО НЕ ПРОСИТЬ</a:t>
            </a:r>
          </a:p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F2530A"/>
                </a:solidFill>
                <a:latin typeface="Arial"/>
              </a:rPr>
              <a:t>ВИХІДНИХ.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F4F4F2"/>
                </a:solidFill>
                <a:latin typeface="Arial"/>
              </a:rPr>
              <a:t>Лісовий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кран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з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вильотом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7,2 м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для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ефективного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навантаження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деревини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на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лісовозні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причепи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або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F4F4F2"/>
                </a:solidFill>
                <a:latin typeface="Arial"/>
              </a:rPr>
              <a:t>трактори</a:t>
            </a:r>
            <a:r>
              <a:rPr sz="1200" b="0" dirty="0">
                <a:solidFill>
                  <a:srgbClr val="F4F4F2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9476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2AC"/>
                </a:solidFill>
                <a:latin typeface="Arial"/>
              </a:rPr>
              <a:t>Триточкове навішування, ширококутний шарнір і телескопічна стріла роблять BMF 720 універсальним: монтаж на причіп BMF або напряму на трактор.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526280"/>
            <a:ext cx="2075688" cy="868680"/>
          </a:xfrm>
          <a:prstGeom prst="rect">
            <a:avLst/>
          </a:prstGeom>
          <a:solidFill>
            <a:srgbClr val="0B0D10">
              <a:alpha val="80000"/>
            </a:srgbClr>
          </a:solidFill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45902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F4F4F2"/>
                </a:solidFill>
                <a:latin typeface="Arial"/>
              </a:rPr>
              <a:t>1100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  <a:p>
            <a:pPr algn="l"/>
            <a:r>
              <a:rPr sz="700" b="0">
                <a:solidFill>
                  <a:srgbClr val="9AA2AC"/>
                </a:solidFill>
                <a:latin typeface="Arial"/>
              </a:rPr>
              <a:t>на вильоті 4 м — без зайвих рухів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9893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8 ПРИЧИН, ЯКІ ВІДЧУЄТЕ З ПЕРШОГО ДНЯ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30936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" y="673912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9496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My Inner Strenx®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Стріли зі сталі SSAB Strenx: тонші, легші й водночас міцніші.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9122" y="630936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7138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47138" y="673912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47138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Hardox® In My 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7138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Захват зі зносостійкої сталі Hardox: ресурс на роки.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26764" y="630936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54780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4780" y="673912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954780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Жорсткий корпус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4780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Поворотна колона і корпус проходять аналіз і випробування.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4406" y="630936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2422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2422" y="673912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2422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80%+ роботами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2422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Зварювання роботами: стабільна якість кожного шва.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772668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6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9496" y="815644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9496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Поворот 370°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Чотири циліндри повороту: плавно й точно під навантаженням.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19122" y="772668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47138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47138" y="815644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47138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Телескоп і кут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7138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Більша зона роботи без перестановки техніки.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26764" y="772668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54780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07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54780" y="815644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54780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Швидкий сервіс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4780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Легкодоступні точки змащення економлять час щодня.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4406" y="7726680"/>
            <a:ext cx="1616202" cy="1325880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2422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08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2422" y="8156448"/>
            <a:ext cx="1360170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2422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4F4F2"/>
                </a:solidFill>
                <a:latin typeface="Arial"/>
              </a:rPr>
              <a:t>Порошкова фарба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2422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Стійкість до корозії та охайний вигляд роками.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93726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5F6873"/>
                </a:solidFill>
                <a:latin typeface="Arial"/>
              </a:rPr>
              <a:t>// ДЛЯ КОГО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 dirty="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 dirty="0">
                <a:solidFill>
                  <a:srgbClr val="F4F4F2"/>
                </a:solidFill>
                <a:latin typeface="Arial"/>
              </a:rPr>
              <a:t>ЛІСОГОСПОДАРСТВА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79192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79192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F4F4F2"/>
                </a:solidFill>
                <a:latin typeface="Arial"/>
              </a:rPr>
              <a:t>ФЕРМЕРИ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46904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46904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F4F4F2"/>
                </a:solidFill>
                <a:latin typeface="Arial"/>
              </a:rPr>
              <a:t>ДЕРЕВООБРОБНИКИ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03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02 — КОНСТРУКЦІЯ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4F4F2"/>
                </a:solidFill>
                <a:latin typeface="Arial"/>
              </a:rPr>
              <a:t>АНАТОМІЯ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СИЛИ.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37160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Кожен вузол BMF 720 розрахований на щоденне навантаження. Розбираємо кран по деталях — від стріли до щелеп захвату.</a:t>
            </a:r>
          </a:p>
        </p:txBody>
      </p:sp>
      <p:pic>
        <p:nvPicPr>
          <p:cNvPr id="14" name="crane" descr="crane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40280"/>
            <a:ext cx="6949440" cy="3951093"/>
          </a:xfrm>
          <a:prstGeom prst="rect">
            <a:avLst/>
          </a:prstGeom>
        </p:spPr>
      </p:pic>
      <p:cxnSp>
        <p:nvCxnSpPr>
          <p:cNvPr id="15" name="Connector 14"/>
          <p:cNvCxnSpPr>
            <a:cxnSpLocks/>
          </p:cNvCxnSpPr>
          <p:nvPr/>
        </p:nvCxnSpPr>
        <p:spPr>
          <a:xfrm flipV="1">
            <a:off x="2743200" y="2724912"/>
            <a:ext cx="0" cy="1552894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79192" y="4213798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24328" y="4158934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48840" y="2240280"/>
            <a:ext cx="1600200" cy="502920"/>
          </a:xfrm>
          <a:prstGeom prst="rect">
            <a:avLst/>
          </a:prstGeom>
          <a:solidFill>
            <a:srgbClr val="0B0D10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48840" y="224028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48840" y="224028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1A0A02"/>
                </a:solidFill>
                <a:latin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231343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F4F4F2"/>
                </a:solidFill>
                <a:latin typeface="Arial"/>
              </a:rPr>
              <a:t>СТРІЛА STRENX®</a:t>
            </a:r>
          </a:p>
          <a:p>
            <a:pPr algn="l"/>
            <a:r>
              <a:rPr sz="680" b="0">
                <a:solidFill>
                  <a:srgbClr val="9AA2AC"/>
                </a:solidFill>
                <a:latin typeface="Arial"/>
              </a:rPr>
              <a:t>тонша, легша, міцніша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5230368" y="2743200"/>
            <a:ext cx="0" cy="2055114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66360" y="485435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11496" y="479948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69080" y="2240280"/>
            <a:ext cx="1600200" cy="502920"/>
          </a:xfrm>
          <a:prstGeom prst="rect">
            <a:avLst/>
          </a:prstGeom>
          <a:solidFill>
            <a:srgbClr val="0B0D10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9080" y="224028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69080" y="224028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1A0A02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31343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F4F4F2"/>
                </a:solidFill>
                <a:latin typeface="Arial"/>
              </a:rPr>
              <a:t>ПОВОРОТНА КОЛОНА</a:t>
            </a:r>
          </a:p>
          <a:p>
            <a:pPr algn="l"/>
            <a:r>
              <a:rPr sz="680" b="0">
                <a:solidFill>
                  <a:srgbClr val="9AA2AC"/>
                </a:solidFill>
                <a:latin typeface="Arial"/>
              </a:rPr>
              <a:t>4 циліндри · 370° · 14 кНм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89320" y="3383280"/>
            <a:ext cx="0" cy="475488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925312" y="379476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70448" y="373989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50408" y="2880360"/>
            <a:ext cx="1600200" cy="502920"/>
          </a:xfrm>
          <a:prstGeom prst="rect">
            <a:avLst/>
          </a:prstGeom>
          <a:solidFill>
            <a:srgbClr val="0B0D10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550408" y="288036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0408" y="288036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1A0A02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295351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F4F4F2"/>
                </a:solidFill>
                <a:latin typeface="Arial"/>
              </a:rPr>
              <a:t>КЛАПАН 6/8XY</a:t>
            </a:r>
          </a:p>
          <a:p>
            <a:pPr algn="l"/>
            <a:r>
              <a:rPr sz="680" b="0">
                <a:solidFill>
                  <a:srgbClr val="9AA2AC"/>
                </a:solidFill>
                <a:latin typeface="Arial"/>
              </a:rPr>
              <a:t>55 л · 200 бар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4967068" y="4983155"/>
            <a:ext cx="880168" cy="566928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800600" y="4853178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45736" y="4798314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50408" y="5532120"/>
            <a:ext cx="1600200" cy="502920"/>
          </a:xfrm>
          <a:prstGeom prst="rect">
            <a:avLst/>
          </a:prstGeom>
          <a:solidFill>
            <a:srgbClr val="0B0D10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550408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50408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1A0A02"/>
                </a:solidFill>
                <a:latin typeface="Arial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3016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F4F4F2"/>
                </a:solidFill>
                <a:latin typeface="Arial"/>
              </a:rPr>
              <a:t>РОТАТОР 4 Т + ЗАХВАТ</a:t>
            </a:r>
          </a:p>
          <a:p>
            <a:pPr algn="l"/>
            <a:r>
              <a:rPr sz="680" b="0">
                <a:solidFill>
                  <a:srgbClr val="9AA2AC"/>
                </a:solidFill>
                <a:latin typeface="Arial"/>
              </a:rPr>
              <a:t>у комплекті · Hardox® 0,24 м²</a:t>
            </a:r>
          </a:p>
        </p:txBody>
      </p:sp>
      <p:cxnSp>
        <p:nvCxnSpPr>
          <p:cNvPr id="43" name="Connector 42"/>
          <p:cNvCxnSpPr>
            <a:cxnSpLocks/>
          </p:cNvCxnSpPr>
          <p:nvPr/>
        </p:nvCxnSpPr>
        <p:spPr>
          <a:xfrm>
            <a:off x="4222183" y="4743450"/>
            <a:ext cx="0" cy="788670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158175" y="4679442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103311" y="4624578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0" y="5532120"/>
            <a:ext cx="1600200" cy="502920"/>
          </a:xfrm>
          <a:prstGeom prst="rect">
            <a:avLst/>
          </a:prstGeom>
          <a:solidFill>
            <a:srgbClr val="0B0D10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0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0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1A0A02"/>
                </a:solidFill>
                <a:latin typeface="Arial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35808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F4F4F2"/>
                </a:solidFill>
                <a:latin typeface="Arial"/>
              </a:rPr>
              <a:t>ТЕЛЕСКОП</a:t>
            </a:r>
          </a:p>
          <a:p>
            <a:pPr algn="l"/>
            <a:r>
              <a:rPr sz="680" b="0">
                <a:solidFill>
                  <a:srgbClr val="9AA2AC"/>
                </a:solidFill>
                <a:latin typeface="Arial"/>
              </a:rPr>
              <a:t>виліт до 7,2 м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07008" y="4224528"/>
            <a:ext cx="0" cy="1307592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143000" y="416052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88136" y="410565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11480" y="5532120"/>
            <a:ext cx="1600200" cy="502920"/>
          </a:xfrm>
          <a:prstGeom prst="rect">
            <a:avLst/>
          </a:prstGeom>
          <a:solidFill>
            <a:srgbClr val="0B0D10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1480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1A0A02"/>
                </a:solidFill>
                <a:latin typeface="Arial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F4F4F2"/>
                </a:solidFill>
                <a:latin typeface="Arial"/>
              </a:rPr>
              <a:t>ШИРОКИЙ КУТ</a:t>
            </a:r>
          </a:p>
          <a:p>
            <a:pPr algn="l"/>
            <a:r>
              <a:rPr sz="680" b="0">
                <a:solidFill>
                  <a:srgbClr val="9AA2AC"/>
                </a:solidFill>
                <a:latin typeface="Arial"/>
              </a:rPr>
              <a:t>шарнір для низьких захватів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КРЕСЛЕННЯ ВИРОБНИКА · РОБОЧА ЗОНА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6616" y="6711696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6616" y="6711696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4157241" y="6711696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321833" y="6711696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56616" y="10158984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56616" y="9994392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157241" y="10158984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21833" y="9994392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00600" y="6720840"/>
            <a:ext cx="235000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800600" y="67939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4F4F2"/>
                </a:solidFill>
                <a:latin typeface="Arial"/>
              </a:rPr>
              <a:t>7,2</a:t>
            </a:r>
            <a:r>
              <a:rPr sz="1000" b="1">
                <a:solidFill>
                  <a:srgbClr val="F2530A"/>
                </a:solidFill>
                <a:latin typeface="Arial"/>
              </a:rPr>
              <a:t> 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7178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9AA2AC"/>
                </a:solidFill>
                <a:latin typeface="Arial"/>
              </a:rPr>
              <a:t>МАКСИМАЛЬНИЙ ВИЛІТ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800600" y="7555230"/>
            <a:ext cx="235000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800600" y="762838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4F4F2"/>
                </a:solidFill>
                <a:latin typeface="Arial"/>
              </a:rPr>
              <a:t>1100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801243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9AA2AC"/>
                </a:solidFill>
                <a:latin typeface="Arial"/>
              </a:rPr>
              <a:t>НА ВИЛЬОТІ 4 М*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800600" y="8389620"/>
            <a:ext cx="235000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800600" y="84627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4F4F2"/>
                </a:solidFill>
                <a:latin typeface="Arial"/>
              </a:rPr>
              <a:t>580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00600" y="88468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9AA2AC"/>
                </a:solidFill>
                <a:latin typeface="Arial"/>
              </a:rPr>
              <a:t>НА ПОВНОМУ ВИЛЬОТІ*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800600" y="9224010"/>
            <a:ext cx="235000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800600" y="929716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4F4F2"/>
                </a:solidFill>
                <a:latin typeface="Arial"/>
              </a:rPr>
              <a:t>370</a:t>
            </a:r>
            <a:r>
              <a:rPr sz="1000" b="1">
                <a:solidFill>
                  <a:srgbClr val="F2530A"/>
                </a:solidFill>
                <a:latin typeface="Arial"/>
              </a:rPr>
              <a:t> 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00600" y="968121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9AA2AC"/>
                </a:solidFill>
                <a:latin typeface="Arial"/>
              </a:rPr>
              <a:t>ПОВОРОТ СТРІЛИ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100126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00" b="0">
                <a:solidFill>
                  <a:srgbClr val="5F6873"/>
                </a:solidFill>
                <a:latin typeface="Arial"/>
              </a:rPr>
              <a:t>* без захвату і ротатора · bmf.ee</a:t>
            </a:r>
          </a:p>
        </p:txBody>
      </p: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8B6652B-5078-6A04-C3CE-7B7287DE1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467" y="8252988"/>
            <a:ext cx="1457737" cy="1204843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7ED2D5CD-0FA3-C6B5-BB1E-EA8B74A90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6784848"/>
            <a:ext cx="3822192" cy="1148250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ACCCAA85-FAAC-BAB0-EEFC-52E16FCA6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7333488"/>
            <a:ext cx="1023779" cy="2761488"/>
          </a:xfrm>
          <a:prstGeom prst="rect">
            <a:avLst/>
          </a:prstGeom>
        </p:spPr>
      </p:pic>
      <p:sp>
        <p:nvSpPr>
          <p:cNvPr id="89" name="dim_7205"/>
          <p:cNvSpPr txBox="1"/>
          <p:nvPr/>
        </p:nvSpPr>
        <p:spPr>
          <a:xfrm>
            <a:off x="2190765" y="6778173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7205</a:t>
            </a:r>
          </a:p>
        </p:txBody>
      </p:sp>
      <p:sp>
        <p:nvSpPr>
          <p:cNvPr id="90" name="dim_3090"/>
          <p:cNvSpPr txBox="1"/>
          <p:nvPr/>
        </p:nvSpPr>
        <p:spPr>
          <a:xfrm>
            <a:off x="1263884" y="6870543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3090</a:t>
            </a:r>
          </a:p>
        </p:txBody>
      </p:sp>
      <p:sp>
        <p:nvSpPr>
          <p:cNvPr id="91" name="dim_105"/>
          <p:cNvSpPr txBox="1"/>
          <p:nvPr/>
        </p:nvSpPr>
        <p:spPr>
          <a:xfrm>
            <a:off x="423001" y="6870543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105</a:t>
            </a:r>
          </a:p>
        </p:txBody>
      </p:sp>
      <p:sp>
        <p:nvSpPr>
          <p:cNvPr id="92" name="dim_1820"/>
          <p:cNvSpPr txBox="1"/>
          <p:nvPr/>
        </p:nvSpPr>
        <p:spPr>
          <a:xfrm>
            <a:off x="215966" y="7416797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1820</a:t>
            </a:r>
          </a:p>
        </p:txBody>
      </p:sp>
      <p:sp>
        <p:nvSpPr>
          <p:cNvPr id="93" name="dim_1430"/>
          <p:cNvSpPr txBox="1"/>
          <p:nvPr/>
        </p:nvSpPr>
        <p:spPr>
          <a:xfrm>
            <a:off x="330632" y="7504389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1430</a:t>
            </a:r>
          </a:p>
        </p:txBody>
      </p:sp>
      <p:sp>
        <p:nvSpPr>
          <p:cNvPr id="94" name="dim_1100 кг"/>
          <p:cNvSpPr txBox="1"/>
          <p:nvPr/>
        </p:nvSpPr>
        <p:spPr>
          <a:xfrm>
            <a:off x="2413726" y="7501204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1100 кг</a:t>
            </a:r>
          </a:p>
        </p:txBody>
      </p:sp>
      <p:sp>
        <p:nvSpPr>
          <p:cNvPr id="95" name="dim_4 м"/>
          <p:cNvSpPr txBox="1"/>
          <p:nvPr/>
        </p:nvSpPr>
        <p:spPr>
          <a:xfrm>
            <a:off x="2404171" y="7638166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4 м</a:t>
            </a:r>
          </a:p>
        </p:txBody>
      </p:sp>
      <p:sp>
        <p:nvSpPr>
          <p:cNvPr id="96" name="dim_580 кг"/>
          <p:cNvSpPr txBox="1"/>
          <p:nvPr/>
        </p:nvSpPr>
        <p:spPr>
          <a:xfrm>
            <a:off x="3862974" y="7501204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580 кг</a:t>
            </a:r>
          </a:p>
        </p:txBody>
      </p:sp>
      <p:sp>
        <p:nvSpPr>
          <p:cNvPr id="97" name="dim_7,2 м"/>
          <p:cNvSpPr txBox="1"/>
          <p:nvPr/>
        </p:nvSpPr>
        <p:spPr>
          <a:xfrm>
            <a:off x="3853419" y="7638166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7,2 м</a:t>
            </a:r>
          </a:p>
        </p:txBody>
      </p:sp>
      <p:sp>
        <p:nvSpPr>
          <p:cNvPr id="98" name="dim_2245"/>
          <p:cNvSpPr txBox="1"/>
          <p:nvPr/>
        </p:nvSpPr>
        <p:spPr>
          <a:xfrm>
            <a:off x="3885375" y="9329815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2245</a:t>
            </a:r>
          </a:p>
        </p:txBody>
      </p:sp>
      <p:sp>
        <p:nvSpPr>
          <p:cNvPr id="99" name="dim_1000"/>
          <p:cNvSpPr txBox="1"/>
          <p:nvPr/>
        </p:nvSpPr>
        <p:spPr>
          <a:xfrm>
            <a:off x="3412616" y="9939930"/>
            <a:ext cx="5486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1">
                <a:solidFill>
                  <a:srgbClr val="FF8A3D"/>
                </a:solidFill>
                <a:latin typeface="Arial"/>
              </a:rPr>
              <a:t>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123" name="crane_side_drawing">
            <a:extLst>
              <a:ext uri="{FF2B5EF4-FFF2-40B4-BE49-F238E27FC236}">
                <a16:creationId xmlns:a16="http://schemas.microsoft.com/office/drawing/2014/main" id="{D44DA428-9220-3661-5A07-05C1CC667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914" y="1991380"/>
            <a:ext cx="7125235" cy="2282209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04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03 — ТЕХНІЧНИЙ ПАСПОРТ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4F4F2"/>
                </a:solidFill>
                <a:latin typeface="Arial"/>
              </a:rPr>
              <a:t>ЦИФРИ,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ЯКІ ПРАЦЮЮТЬ.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774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9AA2AC"/>
                </a:solidFill>
                <a:latin typeface="Arial"/>
              </a:rPr>
              <a:t>ВАНТАЖОПІДЙОМНІСТЬ ПО ВИЛЬОТУ, КГ*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069080"/>
            <a:ext cx="6309360" cy="0"/>
          </a:xfrm>
          <a:prstGeom prst="line">
            <a:avLst/>
          </a:prstGeom>
          <a:ln w="9525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9AA2AC"/>
                </a:solidFill>
                <a:latin typeface="Arial"/>
              </a:rPr>
              <a:t>0 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27048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27048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44168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9AA2AC"/>
                </a:solidFill>
                <a:latin typeface="Arial"/>
              </a:rPr>
              <a:t>1 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68296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68296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85416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9AA2AC"/>
                </a:solidFill>
                <a:latin typeface="Arial"/>
              </a:rPr>
              <a:t>2 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9544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9544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26664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9AA2AC"/>
                </a:solidFill>
                <a:latin typeface="Arial"/>
              </a:rPr>
              <a:t>3 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50792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50792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67912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 dirty="0">
                <a:solidFill>
                  <a:srgbClr val="9AA2AC"/>
                </a:solidFill>
                <a:latin typeface="Arial"/>
              </a:rPr>
              <a:t>4 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92040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92040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09160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 dirty="0">
                <a:solidFill>
                  <a:srgbClr val="9AA2AC"/>
                </a:solidFill>
                <a:latin typeface="Arial"/>
              </a:rPr>
              <a:t>5 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3288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33288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50408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9AA2AC"/>
                </a:solidFill>
                <a:latin typeface="Arial"/>
              </a:rPr>
              <a:t>6 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74536" y="4069080"/>
            <a:ext cx="0" cy="54864"/>
          </a:xfrm>
          <a:prstGeom prst="line">
            <a:avLst/>
          </a:prstGeom>
          <a:ln w="6350">
            <a:solidFill>
              <a:srgbClr val="9AA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74536" y="2834640"/>
            <a:ext cx="0" cy="1234440"/>
          </a:xfrm>
          <a:prstGeom prst="line">
            <a:avLst/>
          </a:prstGeom>
          <a:ln w="3175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91656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9AA2AC"/>
                </a:solidFill>
                <a:latin typeface="Arial"/>
              </a:rPr>
              <a:t>7 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8184" y="3225800"/>
            <a:ext cx="585216" cy="843280"/>
          </a:xfrm>
          <a:prstGeom prst="rect">
            <a:avLst/>
          </a:prstGeom>
          <a:solidFill>
            <a:srgbClr val="F253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58184" y="3197017"/>
            <a:ext cx="585216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3903" y="32882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1100</a:t>
            </a:r>
            <a:r>
              <a:rPr sz="800" b="1" dirty="0">
                <a:solidFill>
                  <a:srgbClr val="1A0A02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1A0A02"/>
                </a:solidFill>
                <a:latin typeface="Arial"/>
              </a:rPr>
              <a:t>кг</a:t>
            </a:r>
            <a:endParaRPr sz="800" b="1" dirty="0">
              <a:solidFill>
                <a:srgbClr val="F2530A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50178" y="3628136"/>
            <a:ext cx="585216" cy="440944"/>
          </a:xfrm>
          <a:prstGeom prst="rect">
            <a:avLst/>
          </a:prstGeom>
          <a:solidFill>
            <a:srgbClr val="F253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50178" y="3609847"/>
            <a:ext cx="585216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25896" y="37017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580</a:t>
            </a:r>
            <a:r>
              <a:rPr sz="800" b="1" dirty="0">
                <a:solidFill>
                  <a:srgbClr val="1A0A02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1A0A02"/>
                </a:solidFill>
                <a:latin typeface="Arial"/>
              </a:rPr>
              <a:t>кг</a:t>
            </a:r>
            <a:endParaRPr sz="800" b="1" dirty="0">
              <a:solidFill>
                <a:srgbClr val="F2530A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89120" y="2377440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F2530A"/>
                </a:solidFill>
                <a:latin typeface="Arial"/>
              </a:rPr>
              <a:t>ЗОНА РОБОТИ 0 — 7,2 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52628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9AA2AC"/>
                </a:solidFill>
                <a:latin typeface="Arial"/>
              </a:rPr>
              <a:t>// ПОВНА СПЕЦИФІКАЦІЯ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754880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75488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75488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Максимальний виліт</a:t>
            </a:r>
          </a:p>
        </p:txBody>
      </p:sp>
      <p:sp>
        <p:nvSpPr>
          <p:cNvPr id="52" name="fld_spec_01"/>
          <p:cNvSpPr txBox="1"/>
          <p:nvPr/>
        </p:nvSpPr>
        <p:spPr>
          <a:xfrm>
            <a:off x="4846320" y="475488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7,2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75488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9320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09320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Підйомний момент, брутто</a:t>
            </a:r>
          </a:p>
        </p:txBody>
      </p:sp>
      <p:sp>
        <p:nvSpPr>
          <p:cNvPr id="56" name="fld_spec_02"/>
          <p:cNvSpPr txBox="1"/>
          <p:nvPr/>
        </p:nvSpPr>
        <p:spPr>
          <a:xfrm>
            <a:off x="4846320" y="509320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09320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кНм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431536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43153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543153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Вантажопідйомність на 4 м*</a:t>
            </a:r>
          </a:p>
        </p:txBody>
      </p:sp>
      <p:sp>
        <p:nvSpPr>
          <p:cNvPr id="61" name="fld_spec_03"/>
          <p:cNvSpPr txBox="1"/>
          <p:nvPr/>
        </p:nvSpPr>
        <p:spPr>
          <a:xfrm>
            <a:off x="4846320" y="543153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1100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43153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кг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76986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76986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Підйомна сила на повному вильоті*</a:t>
            </a:r>
          </a:p>
        </p:txBody>
      </p:sp>
      <p:sp>
        <p:nvSpPr>
          <p:cNvPr id="65" name="fld_spec_04"/>
          <p:cNvSpPr txBox="1"/>
          <p:nvPr/>
        </p:nvSpPr>
        <p:spPr>
          <a:xfrm>
            <a:off x="4846320" y="576986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580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576986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кг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6108192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610819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610819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Захват (у комплекті)</a:t>
            </a:r>
          </a:p>
        </p:txBody>
      </p:sp>
      <p:sp>
        <p:nvSpPr>
          <p:cNvPr id="70" name="fld_spec_05"/>
          <p:cNvSpPr txBox="1"/>
          <p:nvPr/>
        </p:nvSpPr>
        <p:spPr>
          <a:xfrm>
            <a:off x="4846320" y="610819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0,24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610819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м²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" y="644652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Ротатор (у комплекті)</a:t>
            </a:r>
          </a:p>
        </p:txBody>
      </p:sp>
      <p:sp>
        <p:nvSpPr>
          <p:cNvPr id="74" name="fld_spec_06"/>
          <p:cNvSpPr txBox="1"/>
          <p:nvPr/>
        </p:nvSpPr>
        <p:spPr>
          <a:xfrm>
            <a:off x="4846320" y="644652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644652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6784848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678484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" y="678484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Гідравлічний клапан, стандарт</a:t>
            </a:r>
          </a:p>
        </p:txBody>
      </p:sp>
      <p:sp>
        <p:nvSpPr>
          <p:cNvPr id="79" name="fld_spec_07"/>
          <p:cNvSpPr txBox="1"/>
          <p:nvPr/>
        </p:nvSpPr>
        <p:spPr>
          <a:xfrm>
            <a:off x="4846320" y="678484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6/8XY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678484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55 л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712317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" y="712317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Поворотний момент</a:t>
            </a:r>
          </a:p>
        </p:txBody>
      </p:sp>
      <p:sp>
        <p:nvSpPr>
          <p:cNvPr id="83" name="fld_spec_08"/>
          <p:cNvSpPr txBox="1"/>
          <p:nvPr/>
        </p:nvSpPr>
        <p:spPr>
          <a:xfrm>
            <a:off x="4846320" y="712317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46520" y="712317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кНм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7461504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746150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" y="746150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Циліндри повороту</a:t>
            </a:r>
          </a:p>
        </p:txBody>
      </p:sp>
      <p:sp>
        <p:nvSpPr>
          <p:cNvPr id="88" name="fld_spec_09"/>
          <p:cNvSpPr txBox="1"/>
          <p:nvPr/>
        </p:nvSpPr>
        <p:spPr>
          <a:xfrm>
            <a:off x="4846320" y="746150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46520" y="746150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шт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779983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779983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Поворот стріли</a:t>
            </a:r>
          </a:p>
        </p:txBody>
      </p:sp>
      <p:sp>
        <p:nvSpPr>
          <p:cNvPr id="92" name="fld_spec_10"/>
          <p:cNvSpPr txBox="1"/>
          <p:nvPr/>
        </p:nvSpPr>
        <p:spPr>
          <a:xfrm>
            <a:off x="4846320" y="779983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370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779983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°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" y="8138160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48640" y="813816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" y="813816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Робочий тиск</a:t>
            </a:r>
          </a:p>
        </p:txBody>
      </p:sp>
      <p:sp>
        <p:nvSpPr>
          <p:cNvPr id="97" name="fld_spec_11"/>
          <p:cNvSpPr txBox="1"/>
          <p:nvPr/>
        </p:nvSpPr>
        <p:spPr>
          <a:xfrm>
            <a:off x="4846320" y="813816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200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813816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бар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847648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7280" y="847648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Продуктивність гідронасоса</a:t>
            </a:r>
          </a:p>
        </p:txBody>
      </p:sp>
      <p:sp>
        <p:nvSpPr>
          <p:cNvPr id="101" name="fld_spec_12"/>
          <p:cNvSpPr txBox="1"/>
          <p:nvPr/>
        </p:nvSpPr>
        <p:spPr>
          <a:xfrm>
            <a:off x="4846320" y="847648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30–60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46520" y="847648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л/хв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" y="8814816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48640" y="881481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881481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Телескоп / широкий кут</a:t>
            </a:r>
          </a:p>
        </p:txBody>
      </p:sp>
      <p:sp>
        <p:nvSpPr>
          <p:cNvPr id="106" name="fld_spec_13"/>
          <p:cNvSpPr txBox="1"/>
          <p:nvPr/>
        </p:nvSpPr>
        <p:spPr>
          <a:xfrm>
            <a:off x="4846320" y="881481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так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46520" y="881481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48640" y="915314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" y="915314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Тип опорних лап</a:t>
            </a:r>
          </a:p>
        </p:txBody>
      </p:sp>
      <p:sp>
        <p:nvSpPr>
          <p:cNvPr id="110" name="fld_spec_14"/>
          <p:cNvSpPr txBox="1"/>
          <p:nvPr/>
        </p:nvSpPr>
        <p:spPr>
          <a:xfrm>
            <a:off x="4846320" y="915314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A/FD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46520" y="915314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11480" y="9491472"/>
            <a:ext cx="6739128" cy="338328"/>
          </a:xfrm>
          <a:prstGeom prst="rect">
            <a:avLst/>
          </a:prstGeom>
          <a:solidFill>
            <a:srgbClr val="171B2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48640" y="949147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5F6873"/>
                </a:solidFill>
                <a:latin typeface="Arial"/>
              </a:rPr>
              <a:t>S-15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949147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F4F4F2"/>
                </a:solidFill>
                <a:latin typeface="Arial"/>
              </a:rPr>
              <a:t>Вага (без опори, захвату, ротатора)</a:t>
            </a:r>
          </a:p>
        </p:txBody>
      </p:sp>
      <p:sp>
        <p:nvSpPr>
          <p:cNvPr id="115" name="fld_spec_15"/>
          <p:cNvSpPr txBox="1"/>
          <p:nvPr/>
        </p:nvSpPr>
        <p:spPr>
          <a:xfrm>
            <a:off x="4846320" y="949147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46520" y="949147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9AA2AC"/>
                </a:solidFill>
                <a:latin typeface="Arial"/>
              </a:rPr>
              <a:t>кг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11480" y="9829800"/>
            <a:ext cx="6739128" cy="0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11480" y="9921240"/>
            <a:ext cx="673912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0">
                <a:solidFill>
                  <a:srgbClr val="5F6873"/>
                </a:solidFill>
                <a:latin typeface="Arial"/>
              </a:rPr>
              <a:t>* без захвату і ротатора. Дані виробника, bmf.ee. Вага 675 кг — без опори, захвату і ротатора.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05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04 — КОНФІГУРАЦІЯ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4F4F2"/>
                </a:solidFill>
                <a:latin typeface="Arial"/>
              </a:rPr>
              <a:t>ЗІБРАНО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ПІД ВАШУ ЗАДАЧУ.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3319272" cy="2542032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mo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3" y="2606040"/>
            <a:ext cx="2630546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7784" y="245973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" y="4114800"/>
            <a:ext cx="3026664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7784" y="4187952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F4F4F2"/>
                </a:solidFill>
                <a:latin typeface="Arial"/>
              </a:rPr>
              <a:t>Кран-маніпулятор BMF 720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у комплекті з ротатором 4 т і захватом 0,24 м²</a:t>
            </a:r>
          </a:p>
        </p:txBody>
      </p:sp>
      <p:sp>
        <p:nvSpPr>
          <p:cNvPr id="21" name="fld_price_1"/>
          <p:cNvSpPr txBox="1"/>
          <p:nvPr/>
        </p:nvSpPr>
        <p:spPr>
          <a:xfrm>
            <a:off x="2148840" y="4453128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F4F4F2"/>
                </a:solidFill>
                <a:latin typeface="Arial"/>
              </a:rPr>
              <a:t>686 000 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74336"/>
            <a:ext cx="3319272" cy="2542032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mo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24" y="5248656"/>
            <a:ext cx="2135183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" y="5102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7784" y="6757416"/>
            <a:ext cx="3026664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7784" y="6830568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F4F4F2"/>
                </a:solidFill>
                <a:latin typeface="Arial"/>
              </a:rPr>
              <a:t>Платформа з аутригерами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7077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опорні лапи, РВТ, з’єднувальні болти, фланці</a:t>
            </a:r>
          </a:p>
        </p:txBody>
      </p:sp>
      <p:sp>
        <p:nvSpPr>
          <p:cNvPr id="28" name="fld_price_2"/>
          <p:cNvSpPr txBox="1"/>
          <p:nvPr/>
        </p:nvSpPr>
        <p:spPr>
          <a:xfrm>
            <a:off x="2148840" y="7095744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F4F4F2"/>
                </a:solidFill>
                <a:latin typeface="Arial"/>
              </a:rPr>
              <a:t>155 000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1336" y="4974336"/>
            <a:ext cx="3319272" cy="2542032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mo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313" y="5248656"/>
            <a:ext cx="1193318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77640" y="5102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77640" y="6757416"/>
            <a:ext cx="3026664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77640" y="6830568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F4F4F2"/>
                </a:solidFill>
                <a:latin typeface="Arial"/>
              </a:rPr>
              <a:t>Гідравлічний бак в зборі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7077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живлення робочої системи крана</a:t>
            </a:r>
          </a:p>
        </p:txBody>
      </p:sp>
      <p:sp>
        <p:nvSpPr>
          <p:cNvPr id="35" name="fld_price_3"/>
          <p:cNvSpPr txBox="1"/>
          <p:nvPr/>
        </p:nvSpPr>
        <p:spPr>
          <a:xfrm>
            <a:off x="5568696" y="7095744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F4F4F2"/>
                </a:solidFill>
                <a:latin typeface="Arial"/>
              </a:rPr>
              <a:t>18 500 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31336" y="2331720"/>
            <a:ext cx="3319272" cy="2542032"/>
          </a:xfrm>
          <a:prstGeom prst="rect">
            <a:avLst/>
          </a:prstGeom>
          <a:solidFill>
            <a:srgbClr val="171B21"/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mo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051" y="2606040"/>
            <a:ext cx="1177842" cy="1417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77640" y="245973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77640" y="4114800"/>
            <a:ext cx="3026664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77640" y="4187952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F4F4F2"/>
                </a:solidFill>
                <a:latin typeface="Arial"/>
              </a:rPr>
              <a:t>Місце оператора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9AA2AC"/>
                </a:solidFill>
                <a:latin typeface="Arial"/>
              </a:rPr>
              <a:t>ергономічне робоче місце з органами керування</a:t>
            </a:r>
          </a:p>
        </p:txBody>
      </p:sp>
      <p:sp>
        <p:nvSpPr>
          <p:cNvPr id="42" name="fld_price_4"/>
          <p:cNvSpPr txBox="1"/>
          <p:nvPr/>
        </p:nvSpPr>
        <p:spPr>
          <a:xfrm>
            <a:off x="5568696" y="4453128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F4F4F2"/>
                </a:solidFill>
                <a:latin typeface="Arial"/>
              </a:rPr>
              <a:t>27 750 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7635240"/>
            <a:ext cx="6739128" cy="1097280"/>
          </a:xfrm>
          <a:prstGeom prst="rect">
            <a:avLst/>
          </a:prstGeom>
          <a:solidFill>
            <a:srgbClr val="0B0D10"/>
          </a:solidFill>
          <a:ln w="1270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72112" y="7804405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200" dirty="0">
                <a:solidFill>
                  <a:srgbClr val="F2530A"/>
                </a:solidFill>
                <a:latin typeface="Arial"/>
              </a:rPr>
              <a:t>ВЖЕ В ЦІНІ КРАНА · БЕЗ ДОПЛАТ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72112" y="8033005"/>
            <a:ext cx="398551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uk-UA" sz="1500" b="1" dirty="0">
                <a:solidFill>
                  <a:srgbClr val="F4F4F2"/>
                </a:solidFill>
                <a:latin typeface="Arial"/>
              </a:rPr>
              <a:t>р</a:t>
            </a:r>
            <a:r>
              <a:rPr sz="1500" b="1" dirty="0" err="1">
                <a:solidFill>
                  <a:srgbClr val="F4F4F2"/>
                </a:solidFill>
                <a:latin typeface="Arial"/>
              </a:rPr>
              <a:t>отатор</a:t>
            </a:r>
            <a:r>
              <a:rPr sz="1500" b="1" dirty="0">
                <a:solidFill>
                  <a:srgbClr val="F4F4F2"/>
                </a:solidFill>
                <a:latin typeface="Arial"/>
              </a:rPr>
              <a:t> 4 т</a:t>
            </a:r>
            <a:r>
              <a:rPr sz="1500" b="1" dirty="0">
                <a:solidFill>
                  <a:srgbClr val="F2530A"/>
                </a:solidFill>
                <a:latin typeface="Arial"/>
              </a:rPr>
              <a:t>  +  </a:t>
            </a:r>
            <a:r>
              <a:rPr sz="1500" b="1" dirty="0" err="1">
                <a:solidFill>
                  <a:srgbClr val="F4F4F2"/>
                </a:solidFill>
                <a:latin typeface="Arial"/>
              </a:rPr>
              <a:t>захват</a:t>
            </a:r>
            <a:r>
              <a:rPr sz="1500" b="1" dirty="0">
                <a:solidFill>
                  <a:srgbClr val="F4F4F2"/>
                </a:solidFill>
                <a:latin typeface="Arial"/>
              </a:rPr>
              <a:t> 0,24 м² </a:t>
            </a:r>
            <a:r>
              <a:rPr sz="1500" b="1" dirty="0" err="1">
                <a:solidFill>
                  <a:srgbClr val="F4F4F2"/>
                </a:solidFill>
                <a:latin typeface="Arial"/>
              </a:rPr>
              <a:t>Hardox</a:t>
            </a:r>
            <a:r>
              <a:rPr sz="1500" b="1" dirty="0">
                <a:solidFill>
                  <a:srgbClr val="F4F4F2"/>
                </a:solidFill>
                <a:latin typeface="Arial"/>
              </a:rPr>
              <a:t>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2112" y="835691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dirty="0" err="1">
                <a:solidFill>
                  <a:srgbClr val="9AA2AC"/>
                </a:solidFill>
                <a:latin typeface="Arial"/>
              </a:rPr>
              <a:t>Кран-маніпулятор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BMF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постачається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готовим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до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роботи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: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безперервне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обертання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і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щелепи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зі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зносостійкої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9AA2AC"/>
                </a:solidFill>
                <a:latin typeface="Arial"/>
              </a:rPr>
              <a:t>сталі</a:t>
            </a:r>
            <a:r>
              <a:rPr sz="750" b="0" dirty="0">
                <a:solidFill>
                  <a:srgbClr val="9AA2AC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89611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9AA2AC"/>
                </a:solidFill>
                <a:latin typeface="Arial"/>
              </a:rPr>
              <a:t>// + ОПЦІЇ ДЛЯ АПГРЕЙДУ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9189720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F4F4F2"/>
                </a:solidFill>
                <a:latin typeface="Arial"/>
              </a:rPr>
              <a:t>Теплообмінник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19122" y="9189720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28850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F4F4F2"/>
                </a:solidFill>
                <a:latin typeface="Arial"/>
              </a:rPr>
              <a:t>Насос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826764" y="9189720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36492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 err="1">
                <a:solidFill>
                  <a:srgbClr val="F4F4F2"/>
                </a:solidFill>
                <a:latin typeface="Arial"/>
              </a:rPr>
              <a:t>Додаткове</a:t>
            </a:r>
            <a:r>
              <a:rPr lang="ru-RU" sz="750" b="1" dirty="0">
                <a:solidFill>
                  <a:srgbClr val="F4F4F2"/>
                </a:solidFill>
                <a:latin typeface="Arial"/>
              </a:rPr>
              <a:t> </a:t>
            </a:r>
            <a:r>
              <a:rPr lang="ru-RU" sz="750" b="1" dirty="0" err="1">
                <a:solidFill>
                  <a:srgbClr val="F4F4F2"/>
                </a:solidFill>
                <a:latin typeface="Arial"/>
              </a:rPr>
              <a:t>сидіння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534406" y="9189720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44134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>
                <a:solidFill>
                  <a:srgbClr val="F4F4F2"/>
                </a:solidFill>
                <a:latin typeface="Arial"/>
              </a:rPr>
              <a:t>Ящик для </a:t>
            </a:r>
            <a:r>
              <a:rPr lang="ru-RU" sz="750" b="1" dirty="0" err="1">
                <a:solidFill>
                  <a:srgbClr val="F4F4F2"/>
                </a:solidFill>
                <a:latin typeface="Arial"/>
              </a:rPr>
              <a:t>інструмента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11480" y="9665208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1208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F4F4F2"/>
                </a:solidFill>
                <a:latin typeface="Arial"/>
              </a:rPr>
              <a:t>Олива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119122" y="9665208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28850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F4F4F2"/>
                </a:solidFill>
                <a:latin typeface="Arial"/>
              </a:rPr>
              <a:t>Ящик для інструмента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826764" y="9665208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36492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 err="1">
                <a:solidFill>
                  <a:srgbClr val="F4F4F2"/>
                </a:solidFill>
                <a:latin typeface="Arial"/>
              </a:rPr>
              <a:t>Системи</a:t>
            </a:r>
            <a:r>
              <a:rPr lang="ru-RU" sz="750" b="1" dirty="0">
                <a:solidFill>
                  <a:srgbClr val="F4F4F2"/>
                </a:solidFill>
                <a:latin typeface="Arial"/>
              </a:rPr>
              <a:t> </a:t>
            </a:r>
            <a:r>
              <a:rPr lang="ru-RU" sz="750" b="1" dirty="0" err="1">
                <a:solidFill>
                  <a:srgbClr val="F4F4F2"/>
                </a:solidFill>
                <a:latin typeface="Arial"/>
              </a:rPr>
              <a:t>керування</a:t>
            </a:r>
            <a:endParaRPr sz="750" b="1" dirty="0">
              <a:solidFill>
                <a:srgbClr val="F4F4F2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534406" y="9665208"/>
            <a:ext cx="1616202" cy="384048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44134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>
                <a:solidFill>
                  <a:srgbClr val="F2530A"/>
                </a:solidFill>
                <a:latin typeface="Arial"/>
              </a:rPr>
              <a:t>+ </a:t>
            </a:r>
            <a:r>
              <a:rPr sz="750" b="1">
                <a:solidFill>
                  <a:srgbClr val="F4F4F2"/>
                </a:solidFill>
                <a:latin typeface="Arial"/>
              </a:rPr>
              <a:t>Колір на замовлення</a:t>
            </a:r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529E8C39-D9C2-6CB3-49F1-3D0111813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7773204"/>
            <a:ext cx="1090894" cy="821352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606C5B2C-CBD6-A528-5508-A42DFE4DA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739" y="7919330"/>
            <a:ext cx="408974" cy="506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06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05 — ВАРТІСТЬ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4F4F2"/>
                </a:solidFill>
                <a:latin typeface="Arial"/>
              </a:rPr>
              <a:t>ОДНА ЦІНА.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ПОВНИЙ КОМПЛЕКТ.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6739128" cy="3749040"/>
          </a:xfrm>
          <a:prstGeom prst="rect">
            <a:avLst/>
          </a:prstGeom>
          <a:solidFill>
            <a:srgbClr val="171B21">
              <a:alpha val="95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468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5F6873"/>
                </a:solidFill>
                <a:latin typeface="Arial"/>
              </a:rPr>
              <a:t>ПОЗИЦІЯ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50" b="1" spc="200">
                <a:solidFill>
                  <a:srgbClr val="5F6873"/>
                </a:solidFill>
                <a:latin typeface="Arial"/>
              </a:rPr>
              <a:t>К-СТЬ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688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200">
                <a:solidFill>
                  <a:srgbClr val="5F6873"/>
                </a:solidFill>
                <a:latin typeface="Arial"/>
              </a:rPr>
              <a:t>ЦІНА, 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2743200"/>
            <a:ext cx="637336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28254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1635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4F4F2"/>
                </a:solidFill>
                <a:latin typeface="Arial"/>
              </a:rPr>
              <a:t>Кран-маніпулятор BMF 720</a:t>
            </a:r>
          </a:p>
          <a:p>
            <a:pPr algn="l"/>
            <a:r>
              <a:rPr sz="750" b="0">
                <a:solidFill>
                  <a:srgbClr val="9AA2AC"/>
                </a:solidFill>
                <a:latin typeface="Arial"/>
              </a:rPr>
              <a:t>у комплекті з ротатором 4 т і захватом 0,24 м²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2549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9AA2AC"/>
                </a:solidFill>
                <a:latin typeface="Arial"/>
              </a:rPr>
              <a:t>1</a:t>
            </a:r>
          </a:p>
        </p:txBody>
      </p:sp>
      <p:sp>
        <p:nvSpPr>
          <p:cNvPr id="21" name="fld_line_1"/>
          <p:cNvSpPr txBox="1"/>
          <p:nvPr/>
        </p:nvSpPr>
        <p:spPr>
          <a:xfrm>
            <a:off x="5120640" y="282549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F4F4F2"/>
                </a:solidFill>
                <a:latin typeface="Arial"/>
              </a:rPr>
              <a:t>686 000 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3291840"/>
            <a:ext cx="637336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33741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6499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4F4F2"/>
                </a:solidFill>
                <a:latin typeface="Arial"/>
              </a:rPr>
              <a:t>Платформа з аутригерами</a:t>
            </a:r>
          </a:p>
          <a:p>
            <a:pPr algn="l"/>
            <a:r>
              <a:rPr sz="750" b="0">
                <a:solidFill>
                  <a:srgbClr val="9AA2AC"/>
                </a:solidFill>
                <a:latin typeface="Arial"/>
              </a:rPr>
              <a:t>опорні лапи, РВТ, з’єднувальні болти, фланці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741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9AA2AC"/>
                </a:solidFill>
                <a:latin typeface="Arial"/>
              </a:rPr>
              <a:t>1</a:t>
            </a:r>
          </a:p>
        </p:txBody>
      </p:sp>
      <p:sp>
        <p:nvSpPr>
          <p:cNvPr id="26" name="fld_line_2"/>
          <p:cNvSpPr txBox="1"/>
          <p:nvPr/>
        </p:nvSpPr>
        <p:spPr>
          <a:xfrm>
            <a:off x="5120640" y="337413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F4F4F2"/>
                </a:solidFill>
                <a:latin typeface="Arial"/>
              </a:rPr>
              <a:t>155 000 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3840480"/>
            <a:ext cx="637336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39227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1363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4F4F2"/>
                </a:solidFill>
                <a:latin typeface="Arial"/>
              </a:rPr>
              <a:t>Гідравлічний бак в зборі</a:t>
            </a:r>
          </a:p>
          <a:p>
            <a:pPr algn="l"/>
            <a:r>
              <a:rPr sz="750" b="0">
                <a:solidFill>
                  <a:srgbClr val="9AA2AC"/>
                </a:solidFill>
                <a:latin typeface="Arial"/>
              </a:rPr>
              <a:t>живлення робочої системи крана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9227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9AA2AC"/>
                </a:solidFill>
                <a:latin typeface="Arial"/>
              </a:rPr>
              <a:t>1</a:t>
            </a:r>
          </a:p>
        </p:txBody>
      </p:sp>
      <p:sp>
        <p:nvSpPr>
          <p:cNvPr id="31" name="fld_line_3"/>
          <p:cNvSpPr txBox="1"/>
          <p:nvPr/>
        </p:nvSpPr>
        <p:spPr>
          <a:xfrm>
            <a:off x="5120640" y="392277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F4F4F2"/>
                </a:solidFill>
                <a:latin typeface="Arial"/>
              </a:rPr>
              <a:t>18 500 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4389120"/>
            <a:ext cx="637336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44714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6227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4F4F2"/>
                </a:solidFill>
                <a:latin typeface="Arial"/>
              </a:rPr>
              <a:t>Місце оператора</a:t>
            </a:r>
          </a:p>
          <a:p>
            <a:pPr algn="l"/>
            <a:r>
              <a:rPr sz="750" b="0">
                <a:solidFill>
                  <a:srgbClr val="9AA2AC"/>
                </a:solidFill>
                <a:latin typeface="Arial"/>
              </a:rPr>
              <a:t>ергономічне робоче місце з органами керування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714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9AA2AC"/>
                </a:solidFill>
                <a:latin typeface="Arial"/>
              </a:rPr>
              <a:t>1</a:t>
            </a:r>
          </a:p>
        </p:txBody>
      </p:sp>
      <p:sp>
        <p:nvSpPr>
          <p:cNvPr id="36" name="fld_line_4"/>
          <p:cNvSpPr txBox="1"/>
          <p:nvPr/>
        </p:nvSpPr>
        <p:spPr>
          <a:xfrm>
            <a:off x="5120640" y="447141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F4F4F2"/>
                </a:solidFill>
                <a:latin typeface="Arial"/>
              </a:rPr>
              <a:t>27 750 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4983480"/>
            <a:ext cx="6373368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518464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spc="250">
                <a:solidFill>
                  <a:srgbClr val="9AA2AC"/>
                </a:solidFill>
                <a:latin typeface="Arial"/>
              </a:rPr>
              <a:t>РАЗОМ</a:t>
            </a:r>
          </a:p>
          <a:p>
            <a:pPr algn="l"/>
            <a:r>
              <a:rPr sz="800" b="0">
                <a:solidFill>
                  <a:srgbClr val="5F6873"/>
                </a:solidFill>
                <a:latin typeface="Arial"/>
              </a:rPr>
              <a:t>комплект під ключ</a:t>
            </a:r>
          </a:p>
        </p:txBody>
      </p:sp>
      <p:sp>
        <p:nvSpPr>
          <p:cNvPr id="39" name="fld_total"/>
          <p:cNvSpPr txBox="1"/>
          <p:nvPr/>
        </p:nvSpPr>
        <p:spPr>
          <a:xfrm>
            <a:off x="2560320" y="5056632"/>
            <a:ext cx="4407408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4200" b="1" spc="-100">
                <a:solidFill>
                  <a:srgbClr val="F2530A"/>
                </a:solidFill>
                <a:latin typeface="Arial"/>
              </a:rPr>
              <a:t>887 250 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263640"/>
            <a:ext cx="1347826" cy="274320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263640"/>
            <a:ext cx="1347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9AA2AC"/>
                </a:solidFill>
                <a:latin typeface="Arial"/>
              </a:rPr>
              <a:t>З УРАХУВАННЯМ ПДВ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50746" y="6263640"/>
            <a:ext cx="1479499" cy="274320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50746" y="6263640"/>
            <a:ext cx="1479499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9AA2AC"/>
                </a:solidFill>
                <a:latin typeface="Arial"/>
              </a:rPr>
              <a:t>БЕЗ МОНТАЖНИХ РОБІТ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1685" y="6263640"/>
            <a:ext cx="1874520" cy="274320"/>
          </a:xfrm>
          <a:prstGeom prst="rect">
            <a:avLst/>
          </a:prstGeom>
          <a:noFill/>
          <a:ln w="9525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fld_price_date"/>
          <p:cNvSpPr txBox="1"/>
          <p:nvPr/>
        </p:nvSpPr>
        <p:spPr>
          <a:xfrm>
            <a:off x="3421685" y="62636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9AA2AC"/>
                </a:solidFill>
                <a:latin typeface="Arial"/>
              </a:rPr>
              <a:t>ЦІНИ СТАНОМ НА 24.08.2025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720840"/>
            <a:ext cx="6739128" cy="566928"/>
          </a:xfrm>
          <a:prstGeom prst="rect">
            <a:avLst/>
          </a:prstGeom>
          <a:solidFill>
            <a:srgbClr val="F2530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11480" y="672084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672084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sz="800" b="1" spc="150">
                <a:solidFill>
                  <a:srgbClr val="F2530A"/>
                </a:solidFill>
                <a:latin typeface="Arial"/>
              </a:rPr>
              <a:t>КУРС EUR  </a:t>
            </a:r>
            <a:r>
              <a:rPr sz="800" b="0">
                <a:solidFill>
                  <a:srgbClr val="F4F4F2"/>
                </a:solidFill>
                <a:latin typeface="Arial"/>
              </a:rPr>
              <a:t>Ціна прив’язана до курсу EUR і може переглядатись у разі його зростання. Рекомендуємо зафіксувати комплект договором.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75438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9AA2AC"/>
                </a:solidFill>
                <a:latin typeface="Arial"/>
              </a:rPr>
              <a:t>// УМОВИ СПІВПРАЦІ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1480" y="7772400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1480" y="7863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7863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F4F4F2"/>
                </a:solidFill>
                <a:latin typeface="Arial"/>
              </a:rPr>
              <a:t>ДОКУМЕНТАЦІЯ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78546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9AA2AC"/>
                </a:solidFill>
                <a:latin typeface="Arial"/>
              </a:rPr>
              <a:t>Договір з усіма ключовими умовами; повний пакет документів разом із товаром.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11480" y="824788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1480" y="83393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8339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F4F4F2"/>
                </a:solidFill>
                <a:latin typeface="Arial"/>
              </a:rPr>
              <a:t>ТЕРМІНИ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83301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9AA2AC"/>
                </a:solidFill>
                <a:latin typeface="Arial"/>
              </a:rPr>
              <a:t>Під замовлення — до 60 календарних днів з моменту підписання договору.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8723376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11480" y="8814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88148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F4F4F2"/>
                </a:solidFill>
                <a:latin typeface="Arial"/>
              </a:rPr>
              <a:t>ОПЛАТА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880567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9AA2AC"/>
                </a:solidFill>
                <a:latin typeface="Arial"/>
              </a:rPr>
              <a:t>Повна оплата, частинами за договором або кредитні умови.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1480" y="9198864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11480" y="92903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92903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F4F4F2"/>
                </a:solidFill>
                <a:latin typeface="Arial"/>
              </a:rPr>
              <a:t>ДОСТАВКА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92811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9AA2AC"/>
                </a:solidFill>
                <a:latin typeface="Arial"/>
              </a:rPr>
              <a:t>Здійснюється за рахунок покупця.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11480" y="967435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1480" y="97657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9765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F4F4F2"/>
                </a:solidFill>
                <a:latin typeface="Arial"/>
              </a:rPr>
              <a:t>БОНУСИ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97566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9AA2AC"/>
                </a:solidFill>
                <a:latin typeface="Arial"/>
              </a:rPr>
              <a:t>Від 2 кранів BMF — персональна система знижок.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07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BMF · ЕСТОНІЯ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06 — ВИРОБНИК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975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2900" b="1" spc="-50">
                <a:solidFill>
                  <a:srgbClr val="F4F4F2"/>
                </a:solidFill>
                <a:latin typeface="Arial"/>
              </a:rPr>
              <a:t>ЗВАРЕНО РОБОТАМИ.</a:t>
            </a:r>
          </a:p>
          <a:p>
            <a:pPr algn="l">
              <a:lnSpc>
                <a:spcPct val="92000"/>
              </a:lnSpc>
            </a:pPr>
            <a:r>
              <a:rPr sz="2900" b="1" spc="-50">
                <a:solidFill>
                  <a:srgbClr val="F2530A"/>
                </a:solidFill>
                <a:latin typeface="Arial"/>
              </a:rPr>
              <a:t>ПЕРЕВІРЕНО ЛІСОМ.</a:t>
            </a:r>
          </a:p>
        </p:txBody>
      </p:sp>
      <p:pic>
        <p:nvPicPr>
          <p:cNvPr id="13" name="Picture 12" descr="fac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86000"/>
            <a:ext cx="6739128" cy="260604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411480" y="228600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" y="228600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967728" y="228600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28600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1480" y="489204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1480" y="470916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967728" y="489204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50608" y="470916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2423160"/>
            <a:ext cx="1691640" cy="237744"/>
          </a:xfrm>
          <a:prstGeom prst="rect">
            <a:avLst/>
          </a:prstGeom>
          <a:solidFill>
            <a:srgbClr val="0B0D1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42316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50">
                <a:solidFill>
                  <a:srgbClr val="F2530A"/>
                </a:solidFill>
                <a:latin typeface="Arial"/>
              </a:rPr>
              <a:t>● </a:t>
            </a:r>
            <a:r>
              <a:rPr sz="650" b="1" spc="150">
                <a:solidFill>
                  <a:srgbClr val="F4F4F2"/>
                </a:solidFill>
                <a:latin typeface="Arial"/>
              </a:rPr>
              <a:t>ROBOT WELDING · LIVE</a:t>
            </a:r>
          </a:p>
        </p:txBody>
      </p:sp>
      <p:pic>
        <p:nvPicPr>
          <p:cNvPr id="24" name="Picture 23" descr="fa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983480"/>
            <a:ext cx="3319272" cy="1508760"/>
          </a:xfrm>
          <a:prstGeom prst="rect">
            <a:avLst/>
          </a:prstGeom>
        </p:spPr>
      </p:pic>
      <p:pic>
        <p:nvPicPr>
          <p:cNvPr id="25" name="Picture 24" descr="fa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4983480"/>
            <a:ext cx="3319272" cy="150876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411480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F4F4F2"/>
                </a:solidFill>
                <a:latin typeface="Arial"/>
              </a:rPr>
              <a:t>2001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9AA2AC"/>
                </a:solidFill>
                <a:latin typeface="Arial"/>
              </a:rPr>
              <a:t>РІК ЗАСНУВАННЯ BMF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77594" y="6720840"/>
            <a:ext cx="1274673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7594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F4F4F2"/>
                </a:solidFill>
                <a:latin typeface="Arial"/>
              </a:rPr>
              <a:t>13 900 м²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7594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9AA2AC"/>
                </a:solidFill>
                <a:latin typeface="Arial"/>
              </a:rPr>
              <a:t>ВИРОБНИЦТВА В ЕСТОНІЇ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43707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43707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F4F4F2"/>
                </a:solidFill>
                <a:latin typeface="Arial"/>
              </a:rPr>
              <a:t>80%+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3707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9AA2AC"/>
                </a:solidFill>
                <a:latin typeface="Arial"/>
              </a:rPr>
              <a:t>ЗВАРЮВАННЯ РОБОТАМИ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09821" y="6720840"/>
            <a:ext cx="1274673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09821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F4F4F2"/>
                </a:solidFill>
                <a:latin typeface="Arial"/>
              </a:rPr>
              <a:t>20+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9821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9AA2AC"/>
                </a:solidFill>
                <a:latin typeface="Arial"/>
              </a:rPr>
              <a:t>КРАЇН З ДИЛЕРАМИ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75934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75934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F4F4F2"/>
                </a:solidFill>
                <a:latin typeface="Arial"/>
              </a:rPr>
              <a:t>~1000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5934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9AA2AC"/>
                </a:solidFill>
                <a:latin typeface="Arial"/>
              </a:rPr>
              <a:t>КРАНІВ НА РІК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7726680"/>
            <a:ext cx="673912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2530A"/>
                </a:solidFill>
                <a:latin typeface="Arial"/>
              </a:rPr>
              <a:t>“</a:t>
            </a:r>
            <a:r>
              <a:rPr sz="1150" b="1">
                <a:solidFill>
                  <a:srgbClr val="F4F4F2"/>
                </a:solidFill>
                <a:latin typeface="Arial"/>
              </a:rPr>
              <a:t>Техніка для щоденної важкої роботи — там, де довговічність, зручність і стабільна якість важать понад усе.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85039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9AA2AC"/>
                </a:solidFill>
                <a:latin typeface="Arial"/>
              </a:rPr>
              <a:t>// В ПОЛІ · КЛІЄНТИ BMF</a:t>
            </a:r>
          </a:p>
        </p:txBody>
      </p:sp>
      <p:pic>
        <p:nvPicPr>
          <p:cNvPr id="43" name="Picture 42" descr="g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8732520"/>
            <a:ext cx="1616202" cy="1417320"/>
          </a:xfrm>
          <a:prstGeom prst="rect">
            <a:avLst/>
          </a:prstGeom>
        </p:spPr>
      </p:pic>
      <p:pic>
        <p:nvPicPr>
          <p:cNvPr id="46" name="Picture 45" descr="g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9122" y="8732520"/>
            <a:ext cx="1616202" cy="1417320"/>
          </a:xfrm>
          <a:prstGeom prst="rect">
            <a:avLst/>
          </a:prstGeom>
        </p:spPr>
      </p:pic>
      <p:pic>
        <p:nvPicPr>
          <p:cNvPr id="49" name="Picture 48" descr="g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6764" y="8732520"/>
            <a:ext cx="1616202" cy="1417320"/>
          </a:xfrm>
          <a:prstGeom prst="rect">
            <a:avLst/>
          </a:prstGeom>
        </p:spPr>
      </p:pic>
      <p:pic>
        <p:nvPicPr>
          <p:cNvPr id="52" name="Picture 51" descr="g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4406" y="8732520"/>
            <a:ext cx="161620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5F6873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5F6873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9AA2AC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08</a:t>
            </a:r>
            <a:r>
              <a:rPr sz="750" b="1" spc="200">
                <a:solidFill>
                  <a:srgbClr val="5F6873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5F6873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5F6873"/>
                </a:solidFill>
                <a:latin typeface="Arial"/>
              </a:rPr>
              <a:t>ВАШ ЛІС — НАШІ ТЕХНОЛОГІЇ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46320"/>
            <a:ext cx="673912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3600" b="1" spc="-80" dirty="0">
                <a:solidFill>
                  <a:srgbClr val="F4F4F2"/>
                </a:solidFill>
                <a:latin typeface="Arial"/>
              </a:rPr>
              <a:t>ГОТОВІ ДО</a:t>
            </a:r>
          </a:p>
          <a:p>
            <a:pPr algn="l">
              <a:lnSpc>
                <a:spcPct val="90000"/>
              </a:lnSpc>
            </a:pPr>
            <a:r>
              <a:rPr sz="3600" b="1" spc="-80" dirty="0">
                <a:solidFill>
                  <a:srgbClr val="F2530A"/>
                </a:solidFill>
                <a:latin typeface="Arial"/>
              </a:rPr>
              <a:t>РОБОТИ?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0350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ВІД ЗАЯВКИ ДО РОБОТИ В ЛІСІ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309360"/>
            <a:ext cx="1616202" cy="914400"/>
          </a:xfrm>
          <a:prstGeom prst="rect">
            <a:avLst/>
          </a:prstGeom>
          <a:solidFill>
            <a:srgbClr val="171B21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1922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5F6873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F4F4F2"/>
                </a:solidFill>
                <a:latin typeface="Arial"/>
              </a:rPr>
              <a:t>ЗАЯВКА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9AA2AC"/>
                </a:solidFill>
                <a:latin typeface="Arial"/>
              </a:rPr>
              <a:t>Узгоджуємо комплект і опції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9122" y="6309360"/>
            <a:ext cx="1616202" cy="914400"/>
          </a:xfrm>
          <a:prstGeom prst="rect">
            <a:avLst/>
          </a:prstGeom>
          <a:solidFill>
            <a:srgbClr val="171B21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7138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564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5F6873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138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F4F4F2"/>
                </a:solidFill>
                <a:latin typeface="Arial"/>
              </a:rPr>
              <a:t>ДОГОВІР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7138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9AA2AC"/>
                </a:solidFill>
                <a:latin typeface="Arial"/>
              </a:rPr>
              <a:t>Фіксуємо ціну та умови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6764" y="6309360"/>
            <a:ext cx="1616202" cy="914400"/>
          </a:xfrm>
          <a:prstGeom prst="rect">
            <a:avLst/>
          </a:prstGeom>
          <a:solidFill>
            <a:srgbClr val="171B21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478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7206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5F6873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4780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F4F4F2"/>
                </a:solidFill>
                <a:latin typeface="Arial"/>
              </a:rPr>
              <a:t>ВИГОТОВЛЕННЯ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4780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9AA2AC"/>
                </a:solidFill>
                <a:latin typeface="Arial"/>
              </a:rPr>
              <a:t>До 60 днів під замовлення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4406" y="6309360"/>
            <a:ext cx="1616202" cy="914400"/>
          </a:xfrm>
          <a:prstGeom prst="rect">
            <a:avLst/>
          </a:prstGeom>
          <a:solidFill>
            <a:srgbClr val="171B21">
              <a:alpha val="90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2422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2422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F4F4F2"/>
                </a:solidFill>
                <a:latin typeface="Arial"/>
              </a:rPr>
              <a:t>ПЕРЕДАЧА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2422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9AA2AC"/>
                </a:solidFill>
                <a:latin typeface="Arial"/>
              </a:rPr>
              <a:t>Документи й запуск у роботу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7452360"/>
            <a:ext cx="6739128" cy="2606040"/>
          </a:xfrm>
          <a:prstGeom prst="rect">
            <a:avLst/>
          </a:prstGeom>
          <a:solidFill>
            <a:srgbClr val="171B21">
              <a:alpha val="95000"/>
            </a:srgbClr>
          </a:solidFill>
          <a:ln w="6350">
            <a:solidFill>
              <a:srgbClr val="2C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7452360"/>
            <a:ext cx="6739128" cy="457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ТЕЛЕФОН</a:t>
            </a:r>
          </a:p>
        </p:txBody>
      </p:sp>
      <p:sp>
        <p:nvSpPr>
          <p:cNvPr id="35" name="fld_contact_0"/>
          <p:cNvSpPr txBox="1"/>
          <p:nvPr/>
        </p:nvSpPr>
        <p:spPr>
          <a:xfrm>
            <a:off x="64008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4F4F2"/>
                </a:solidFill>
                <a:latin typeface="Arial"/>
              </a:rPr>
              <a:t>(+380) 67 363 0629</a:t>
            </a:r>
          </a:p>
          <a:p>
            <a:pPr algn="l">
              <a:lnSpc>
                <a:spcPct val="115000"/>
              </a:lnSpc>
            </a:pPr>
            <a:r>
              <a:rPr sz="950" b="1">
                <a:solidFill>
                  <a:srgbClr val="F4F4F2"/>
                </a:solidFill>
                <a:latin typeface="Arial"/>
              </a:rPr>
              <a:t>(+380) 68 177 5997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E-MAIL</a:t>
            </a:r>
          </a:p>
        </p:txBody>
      </p:sp>
      <p:sp>
        <p:nvSpPr>
          <p:cNvPr id="37" name="fld_contact_1"/>
          <p:cNvSpPr txBox="1"/>
          <p:nvPr/>
        </p:nvSpPr>
        <p:spPr>
          <a:xfrm>
            <a:off x="283464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debeliy78@ukr.net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САЙТ</a:t>
            </a:r>
          </a:p>
        </p:txBody>
      </p:sp>
      <p:sp>
        <p:nvSpPr>
          <p:cNvPr id="39" name="fld_contact_2"/>
          <p:cNvSpPr txBox="1"/>
          <p:nvPr/>
        </p:nvSpPr>
        <p:spPr>
          <a:xfrm>
            <a:off x="502920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bmf.rv.ua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bmf.ee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АДРЕСА</a:t>
            </a:r>
          </a:p>
        </p:txBody>
      </p:sp>
      <p:sp>
        <p:nvSpPr>
          <p:cNvPr id="41" name="fld_contact_3"/>
          <p:cNvSpPr txBox="1"/>
          <p:nvPr/>
        </p:nvSpPr>
        <p:spPr>
          <a:xfrm>
            <a:off x="64008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вул. Заводська 5, м. Сарни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Рівненська обл., 34500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СОЦМЕРЕЖІ</a:t>
            </a:r>
          </a:p>
        </p:txBody>
      </p:sp>
      <p:sp>
        <p:nvSpPr>
          <p:cNvPr id="43" name="fld_contact_4"/>
          <p:cNvSpPr txBox="1"/>
          <p:nvPr/>
        </p:nvSpPr>
        <p:spPr>
          <a:xfrm>
            <a:off x="283464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TikTok @bmf.ua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Instagram @bmf.rv.ua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ВИРОБНИЦТВО</a:t>
            </a:r>
          </a:p>
        </p:txBody>
      </p:sp>
      <p:sp>
        <p:nvSpPr>
          <p:cNvPr id="45" name="fld_contact_5"/>
          <p:cNvSpPr txBox="1"/>
          <p:nvPr/>
        </p:nvSpPr>
        <p:spPr>
          <a:xfrm>
            <a:off x="502920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Напівпричепи НПЛ-10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4F4F2"/>
                </a:solidFill>
                <a:latin typeface="Arial"/>
              </a:rPr>
              <a:t>100+ виготовлено в Сарнах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9646920"/>
            <a:ext cx="6281928" cy="0"/>
          </a:xfrm>
          <a:prstGeom prst="line">
            <a:avLst/>
          </a:prstGeom>
          <a:ln w="6350">
            <a:solidFill>
              <a:srgbClr val="2C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97109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9AA2AC"/>
                </a:solidFill>
                <a:latin typeface="Arial"/>
              </a:rPr>
              <a:t>Офіційний дистриб’ютор BMF в Україні  ·  Виробник: ТОВ «ГІДМАН»</a:t>
            </a:r>
          </a:p>
        </p:txBody>
      </p:sp>
      <p:pic>
        <p:nvPicPr>
          <p:cNvPr id="48" name="Picture 47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92640"/>
            <a:ext cx="695401" cy="274320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182880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104888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79208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82880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2880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104888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379208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1229</Words>
  <Application>Microsoft Office PowerPoint</Application>
  <PresentationFormat>Довільний</PresentationFormat>
  <Paragraphs>333</Paragraphs>
  <Slides>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subject/>
  <dc:creator>1</dc:creator>
  <cp:keywords/>
  <dc:description>generated using python-pptx</dc:description>
  <cp:lastModifiedBy>1</cp:lastModifiedBy>
  <cp:revision>7</cp:revision>
  <dcterms:created xsi:type="dcterms:W3CDTF">2013-01-27T09:14:16Z</dcterms:created>
  <dcterms:modified xsi:type="dcterms:W3CDTF">2026-10-09T15:13:49Z</dcterms:modified>
  <cp:category/>
</cp:coreProperties>
</file>